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cff2674-b089-b7c5-cc32-ed9d4720f30c}">
          <p14:sldIdLst>
            <p14:sldId id="256"/>
            <p14:sldId id="257"/>
            <p14:sldId id="258"/>
          </p14:sldIdLst>
        </p14:section>
        <p14:section name="System" id="{7d1479a3-2b99-9216-02fb-571f19bf1b93}">
          <p14:sldIdLst>
            <p14:sldId id="259"/>
            <p14:sldId id="260"/>
            <p14:sldId id="261"/>
          </p14:sldIdLst>
        </p14:section>
        <p14:section name="Results" id="{8ad21935-a8a4-3a0e-3fe1-bc8399f3d7ac}">
          <p14:sldIdLst>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Points</c:v>
                </c:pt>
              </c:strCache>
            </c:strRef>
          </c:tx>
          <c:spPr>
            <a:solidFill>
              <a:srgbClr val="2E75B6"/>
            </a:solidFill>
            <a:effectLst/>
          </c:spPr>
          <c:invertIfNegative val="0"/>
          <c:dLbls>
            <c:numFmt formatCode="#,##0" sourceLinked="0"/>
            <c:txPr>
              <a:bodyPr/>
              <a:lstStyle/>
              <a:p>
                <a:pPr>
                  <a:defRPr b="1" i="0" strike="noStrike" sz="1200" u="none">
                    <a:solidFill>
                      <a:srgbClr val="142238"/>
                    </a:solidFill>
                    <a:latin typeface="+mn-lt"/>
                  </a:defRPr>
                </a:pPr>
              </a:p>
            </c:txPr>
            <c:showLegendKey val="0"/>
            <c:showVal val="1"/>
            <c:showCatName val="0"/>
            <c:showSerName val="0"/>
            <c:showPercent val="0"/>
            <c:showBubbleSize val="0"/>
            <c:showLeaderLines val="0"/>
          </c:dLbls>
          <c:cat>
            <c:multiLvlStrRef>
              <c:f>Sheet1!$A$2:$A$7</c:f>
              <c:multiLvlStrCache>
                <c:ptCount val="6"/>
                <c:lvl>
                  <c:pt idx="0">
                    <c:v>Keyword match</c:v>
                  </c:pt>
                  <c:pt idx="1">
                    <c:v>Sections</c:v>
                  </c:pt>
                  <c:pt idx="2">
                    <c:v>Impact</c:v>
                  </c:pt>
                  <c:pt idx="3">
                    <c:v>Formatting</c:v>
                  </c:pt>
                  <c:pt idx="4">
                    <c:v>Contact info</c:v>
                  </c:pt>
                  <c:pt idx="5">
                    <c:v>Language</c:v>
                  </c:pt>
                </c:lvl>
              </c:multiLvlStrCache>
            </c:multiLvlStrRef>
          </c:cat>
          <c:val>
            <c:numRef>
              <c:f>Sheet1!$B$2:$B$7</c:f>
              <c:numCache>
                <c:formatCode>General</c:formatCode>
                <c:ptCount val="6"/>
                <c:pt idx="0">
                  <c:v>35</c:v>
                </c:pt>
                <c:pt idx="1">
                  <c:v>15</c:v>
                </c:pt>
                <c:pt idx="2">
                  <c:v>15</c:v>
                </c:pt>
                <c:pt idx="3">
                  <c:v>15</c:v>
                </c:pt>
                <c:pt idx="4">
                  <c:v>10</c:v>
                </c:pt>
                <c:pt idx="5">
                  <c:v>10</c:v>
                </c:pt>
              </c:numCache>
            </c:numRef>
          </c:val>
        </c:ser>
        <c:dLbls>
          <c:numFmt formatCode="#,##0" sourceLinked="0"/>
          <c:txPr>
            <a:bodyPr/>
            <a:lstStyle/>
            <a:p>
              <a:pPr>
                <a:defRPr b="1" i="0" strike="noStrike" sz="1200" u="none">
                  <a:solidFill>
                    <a:srgbClr val="142238"/>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42238"/>
                </a:solidFill>
                <a:latin typeface="+mn-lt"/>
              </a:defRPr>
            </a:pPr>
            <a:endParaRPr lang="en-US"/>
          </a:p>
        </c:txPr>
        <c:crossAx val="2094734552"/>
        <c:crosses val="autoZero"/>
        <c:auto val="1"/>
        <c:lblAlgn val="ctr"/>
        <c:noMultiLvlLbl val="1"/>
      </c:catAx>
      <c:valAx>
        <c:axId val="2094734552"/>
        <c:scaling>
          <c:orientation val="minMax"/>
          <c:max val="42"/>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Our project is Interview Prep Crew: a multi-agent AI system that researches a company, analyses a role, predicts interview questions and coaches the answers, and that also scores a resume the way an applicant tracking system would. It is built with CrewAI and runs with Groq or a local model. Thank our guide, Prof. Santwana Gudadhe.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Interview preparation is four jobs: researching the company, understanding the role, guessing questions and practising answers. Today that is scattered across many sites, a single chatbot prompt gives generic answers with no sources, and candidates never learn why their resume fails an ATS. Our objectives follow directly: a live view of every agent, sourced research, personalised questions, a resume score with an AI review, and privacy for the resume.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building blocks already exist. Chain-of-thought and ReAct show that models reason better when they interleave thinking with actions such as search. Toolformer and retrieval-augmented generation show how to ground answers in retrieved text. AutoGen, MetaGPT and CrewAI are frameworks for role-based agents; we chose CrewAI because its sequential process matches our pipeline. For resume screening there is no public benchmark, so we are clear that our scoring is a heuristic. The gap we fill is the integration for interview preparation. We do not claim any single technique is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browser talks to a FastAPI server over REST and Server-Sent Events. The server starts a CrewAI crew in a background thread, and an event bridge subscribes to CrewAI's event bus and turns every agent, model and tool event into a small event for the browser. That is how the interface shows each step live. The crew calls a language model (Groq, Claude or a local Ollama model) and three web tools. Finished runs are saved as JSON without resume text. Three design rules: code decides and the model writes, every step is visible, and the resume is private by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agents run one after another. The Company Researcher searches the web and news and writes a brief with sources. The Role Analyst finds the skills and interview rounds and, if a resume is given, the gaps. The Question Generator writes ten likely questions, at least three of them from the candidate's own resume. The Answer Coach writes model answers, tips and a five-day plan. Each agent receives the earlier outputs as context, which is why later agents work from real research. A fifth agent, the ATS Resume Reviewer, belongs to the resume crew: it starts from the rule-based score and may only rewrite bullets that exist in the resume.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ATS score is computed by deterministic rules, so it is instant and repeatable: keyword match 35 points, sections 15, impact 15, formatting 15, contact information 10 and language 10. Without a job description the keyword area is skipped and the rest is rescaled to 100. The AI reviewer then turns the findings into fixes and rewrites. The resume is used to personalise questions, but it is never written to disk and is redacted from the activity log. A privacy test found that the resume had leaked into saved task prompts; we fixed it, and the test now guards against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running application. On the left, the interview prep screen after a full run: four agent cards, each showing its tools, number of model and tool calls and time taken; below it are the Activity, Prep pack and Sources tabs. On the right, the dashboard with statistics and recent runs, and the resume ATS page with the score gauge and a six-area breakdown. If time allows, switch to the live application and run the crew for a company the audience suggests.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on Groq the four-agent crew finishes in 2 minutes 14 seconds, with all ten questions and ten answers; a 4B local model on a laptop CPU needs about six minutes. The ATS engine scored a strong sample resume 98 out of 100 and a weak one 4. All 155 automated tests pass. Limitations: the ATS score is a heuristic that we did not compare with commercial ATS software, results depend on web search and model quality, and no real candidates have used the system yet. Future scope: an interactive mock interview, a model comparison with a user study, a fact-checker agent and deployment. Thank the audience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600200"/>
            <a:ext cx="5486400" cy="73152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r>
              <a:rPr lang="en-US" sz="3800" b="1" dirty="0">
                <a:solidFill>
                  <a:schemeClr val="bg1"/>
                </a:solidFill>
              </a:rPr>
              <a:t>Title</a:t>
            </a:r>
            <a:endParaRPr lang="en-US" sz="3800" dirty="0"/>
          </a:p>
        </p:txBody>
      </p:sp>
      <p:sp>
        <p:nvSpPr>
          <p:cNvPr id="3" name="Text 0"/>
          <p:cNvSpPr/>
          <p:nvPr>
            <p:ph idx="101" type="body" hasCustomPrompt="1"/>
          </p:nvPr>
        </p:nvSpPr>
        <p:spPr>
          <a:xfrm>
            <a:off x="548640" y="2423160"/>
            <a:ext cx="5029200" cy="86868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r>
              <a:rPr lang="en-US" sz="2000" dirty="0">
                <a:solidFill>
                  <a:schemeClr val="bg2"/>
                </a:solidFill>
              </a:rPr>
              <a:t>Subtitle</a:t>
            </a: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r>
              <a:rPr lang="en-US" sz="3000" b="1" dirty="0">
                <a:solidFill>
                  <a:schemeClr val="tx2"/>
                </a:solidFill>
              </a:rPr>
              <a:t>Title</a:t>
            </a:r>
            <a:endParaRPr lang="en-US" sz="3000" dirty="0"/>
          </a:p>
        </p:txBody>
      </p:sp>
      <p:sp>
        <p:nvSpPr>
          <p:cNvPr id="3" name="Text 0"/>
          <p:cNvSpPr/>
          <p:nvPr/>
        </p:nvSpPr>
        <p:spPr>
          <a:xfrm>
            <a:off x="457200" y="4800600"/>
            <a:ext cx="4572000" cy="228600"/>
          </a:xfrm>
          <a:prstGeom prst="rect">
            <a:avLst/>
          </a:prstGeom>
          <a:noFill/>
          <a:ln/>
        </p:spPr>
        <p:txBody>
          <a:bodyPr wrap="square" lIns="0" tIns="0" rIns="0" bIns="0" rtlCol="0" anchor="ctr"/>
          <a:lstStyle/>
          <a:p>
            <a:pPr algn="l" indent="0" marL="0">
              <a:buNone/>
            </a:pPr>
            <a:r>
              <a:rPr lang="en-US" sz="1000" dirty="0">
                <a:solidFill>
                  <a:schemeClr val="accent6"/>
                </a:solidFill>
              </a:rPr>
              <a:t>Interview Prep Crew  |  PCCOE Pune</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r>
              <a:rPr lang="en-US" sz="3000" b="1" dirty="0">
                <a:solidFill>
                  <a:schemeClr val="bg1"/>
                </a:solidFill>
              </a:rPr>
              <a:t>Title</a:t>
            </a: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3.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 card"/>
          <p:cNvSpPr/>
          <p:nvPr/>
        </p:nvSpPr>
        <p:spPr>
          <a:xfrm>
            <a:off x="548640" y="502920"/>
            <a:ext cx="914400" cy="914400"/>
          </a:xfrm>
          <a:prstGeom prst="roundRect">
            <a:avLst>
              <a:gd name="adj" fmla="val 12000"/>
            </a:avLst>
          </a:prstGeom>
          <a:solidFill>
            <a:schemeClr val="bg1"/>
          </a:solidFill>
          <a:ln w="12700">
            <a:solidFill>
              <a:schemeClr val="bg1"/>
            </a:solidFill>
            <a:prstDash val="solid"/>
          </a:ln>
        </p:spPr>
      </p:sp>
      <p:pic>
        <p:nvPicPr>
          <p:cNvPr id="3" name="College logo" descr="Pimpri Chinchwad College of Engineering logo">    </p:cNvPr>
          <p:cNvPicPr>
            <a:picLocks noChangeAspect="1"/>
          </p:cNvPicPr>
          <p:nvPr/>
        </p:nvPicPr>
        <p:blipFill>
          <a:blip r:embed="rId1"/>
          <a:stretch>
            <a:fillRect/>
          </a:stretch>
        </p:blipFill>
        <p:spPr>
          <a:xfrm>
            <a:off x="612648" y="566928"/>
            <a:ext cx="786384" cy="786384"/>
          </a:xfrm>
          <a:prstGeom prst="rect">
            <a:avLst/>
          </a:prstGeom>
        </p:spPr>
      </p:pic>
      <p:sp>
        <p:nvSpPr>
          <p:cNvPr id="4" name="College name"/>
          <p:cNvSpPr txBox="1"/>
          <p:nvPr/>
        </p:nvSpPr>
        <p:spPr>
          <a:xfrm>
            <a:off x="1645920" y="548640"/>
            <a:ext cx="4206240" cy="822960"/>
          </a:xfrm>
          <a:prstGeom prst="rect">
            <a:avLst/>
          </a:prstGeom>
          <a:noFill/>
          <a:ln/>
        </p:spPr>
        <p:txBody>
          <a:bodyPr wrap="square" lIns="0" tIns="0" rIns="0" bIns="0" rtlCol="0" anchor="ctr"/>
          <a:lstStyle/>
          <a:p>
            <a:pPr indent="0" marL="0">
              <a:buNone/>
            </a:pPr>
            <a:r>
              <a:rPr lang="en-US" sz="1400" b="1" dirty="0">
                <a:solidFill>
                  <a:schemeClr val="bg1"/>
                </a:solidFill>
              </a:rPr>
              <a:t>Pimpri Chinchwad College of Engineering, Pune</a:t>
            </a:r>
            <a:endParaRPr lang="en-US" sz="1400" dirty="0"/>
          </a:p>
          <a:p>
            <a:pPr indent="0" marL="0">
              <a:buNone/>
            </a:pPr>
            <a:r>
              <a:rPr lang="en-US" sz="1200" dirty="0">
                <a:solidFill>
                  <a:schemeClr val="bg2"/>
                </a:solidFill>
              </a:rPr>
              <a:t>Department of Computer Science &amp; Engineering (AI &amp; ML)</a:t>
            </a:r>
            <a:endParaRPr lang="en-US" sz="1400" dirty="0"/>
          </a:p>
        </p:txBody>
      </p:sp>
      <p:sp>
        <p:nvSpPr>
          <p:cNvPr id="5" name="Text 0"/>
          <p:cNvSpPr/>
          <p:nvPr>
            <p:ph idx="100" type="title" hasCustomPrompt="1"/>
          </p:nvPr>
        </p:nvSpPr>
        <p:spPr>
          <a:xfrm>
            <a:off x="548640" y="1600200"/>
            <a:ext cx="5486400" cy="731520"/>
          </a:xfrm>
          <a:prstGeom prst="rect">
            <a:avLst/>
          </a:prstGeom>
          <a:noFill/>
          <a:ln/>
        </p:spPr>
        <p:txBody>
          <a:bodyPr wrap="square" lIns="0" tIns="0" rIns="0" bIns="0" rtlCol="0" anchor="t"/>
          <a:lstStyle/>
          <a:p>
            <a:pPr algn="l" indent="0" marL="0">
              <a:buNone/>
            </a:pPr>
            <a:r>
              <a:rPr lang="en-US" sz="3800" b="1" dirty="0">
                <a:solidFill>
                  <a:schemeClr val="bg1"/>
                </a:solidFill>
              </a:rPr>
              <a:t>Interview Prep Crew</a:t>
            </a:r>
            <a:endParaRPr lang="en-US" sz="3800" dirty="0"/>
          </a:p>
        </p:txBody>
      </p:sp>
      <p:sp>
        <p:nvSpPr>
          <p:cNvPr id="6" name="Text 0"/>
          <p:cNvSpPr/>
          <p:nvPr>
            <p:ph idx="101" type="body" hasCustomPrompt="1"/>
          </p:nvPr>
        </p:nvSpPr>
        <p:spPr>
          <a:xfrm>
            <a:off x="548640" y="2423160"/>
            <a:ext cx="5029200" cy="868680"/>
          </a:xfrm>
          <a:prstGeom prst="rect">
            <a:avLst/>
          </a:prstGeom>
          <a:noFill/>
          <a:ln/>
        </p:spPr>
        <p:txBody>
          <a:bodyPr wrap="square" lIns="0" tIns="0" rIns="0" bIns="0" rtlCol="0" anchor="t"/>
          <a:lstStyle/>
          <a:p>
            <a:pPr algn="l" indent="0" marL="0">
              <a:buNone/>
            </a:pPr>
            <a:r>
              <a:rPr lang="en-US" sz="2000" dirty="0">
                <a:solidFill>
                  <a:schemeClr val="bg2"/>
                </a:solidFill>
              </a:rPr>
              <a:t>A multi-agent AI system for interview preparation and resume ATS scoring</a:t>
            </a:r>
            <a:endParaRPr lang="en-US" sz="2000" dirty="0"/>
          </a:p>
        </p:txBody>
      </p:sp>
      <p:sp>
        <p:nvSpPr>
          <p:cNvPr id="7" name="Team and guide"/>
          <p:cNvSpPr txBox="1"/>
          <p:nvPr/>
        </p:nvSpPr>
        <p:spPr>
          <a:xfrm>
            <a:off x="548640" y="3520440"/>
            <a:ext cx="5303520" cy="100584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Tejas Shidam  ·  123B1C037</a:t>
            </a:r>
            <a:endParaRPr lang="en-US" sz="1600" dirty="0"/>
          </a:p>
          <a:p>
            <a:pPr indent="0" marL="0">
              <a:spcAft>
                <a:spcPts val="400"/>
              </a:spcAft>
              <a:buNone/>
            </a:pPr>
            <a:r>
              <a:rPr lang="en-US" sz="1600" b="1" dirty="0">
                <a:solidFill>
                  <a:schemeClr val="bg1"/>
                </a:solidFill>
              </a:rPr>
              <a:t>Sandesh Phad  ·  123B1C033</a:t>
            </a:r>
            <a:endParaRPr lang="en-US" sz="1600" dirty="0"/>
          </a:p>
          <a:p>
            <a:pPr indent="0" marL="0">
              <a:spcAft>
                <a:spcPts val="400"/>
              </a:spcAft>
              <a:buNone/>
            </a:pPr>
            <a:r>
              <a:rPr lang="en-US" sz="1300" dirty="0">
                <a:solidFill>
                  <a:schemeClr val="bg2"/>
                </a:solidFill>
              </a:rPr>
              <a:t>Guided by Prof. Santwana Gudadhe  ·  Academic Year 2026–2027</a:t>
            </a:r>
            <a:endParaRPr lang="en-US" sz="1600" dirty="0"/>
          </a:p>
        </p:txBody>
      </p:sp>
      <p:sp>
        <p:nvSpPr>
          <p:cNvPr id="8" name="Company Researcher chip"/>
          <p:cNvSpPr/>
          <p:nvPr/>
        </p:nvSpPr>
        <p:spPr>
          <a:xfrm>
            <a:off x="6172200" y="640080"/>
            <a:ext cx="2514600" cy="621792"/>
          </a:xfrm>
          <a:prstGeom prst="roundRect">
            <a:avLst>
              <a:gd name="adj" fmla="val 20588"/>
            </a:avLst>
          </a:prstGeom>
          <a:solidFill>
            <a:schemeClr val="bg1">
              <a:alpha val="12000"/>
            </a:schemeClr>
          </a:solidFill>
          <a:ln w="9525">
            <a:solidFill>
              <a:schemeClr val="bg1">
                <a:alpha val="35000"/>
              </a:schemeClr>
            </a:solidFill>
            <a:prstDash val="solid"/>
          </a:ln>
        </p:spPr>
      </p:sp>
      <p:sp>
        <p:nvSpPr>
          <p:cNvPr id="9" name="Company Researcher icon circle"/>
          <p:cNvSpPr/>
          <p:nvPr/>
        </p:nvSpPr>
        <p:spPr>
          <a:xfrm>
            <a:off x="6281928" y="722376"/>
            <a:ext cx="457200" cy="457200"/>
          </a:xfrm>
          <a:prstGeom prst="ellipse">
            <a:avLst/>
          </a:prstGeom>
          <a:solidFill>
            <a:schemeClr val="accent1"/>
          </a:solidFill>
          <a:ln w="12700">
            <a:solidFill>
              <a:schemeClr val="accent1"/>
            </a:solidFill>
            <a:prstDash val="solid"/>
          </a:ln>
        </p:spPr>
      </p:sp>
      <p:pic>
        <p:nvPicPr>
          <p:cNvPr id="10" name="Company Researcher icon" descr="Company Researcher">    </p:cNvPr>
          <p:cNvPicPr>
            <a:picLocks noChangeAspect="1"/>
          </p:cNvPicPr>
          <p:nvPr/>
        </p:nvPicPr>
        <p:blipFill>
          <a:blip r:embed="rId2"/>
          <a:stretch>
            <a:fillRect/>
          </a:stretch>
        </p:blipFill>
        <p:spPr>
          <a:xfrm>
            <a:off x="6396228" y="836676"/>
            <a:ext cx="228600" cy="228600"/>
          </a:xfrm>
          <a:prstGeom prst="rect">
            <a:avLst/>
          </a:prstGeom>
        </p:spPr>
      </p:pic>
      <p:sp>
        <p:nvSpPr>
          <p:cNvPr id="11" name="Company Researcher label"/>
          <p:cNvSpPr txBox="1"/>
          <p:nvPr/>
        </p:nvSpPr>
        <p:spPr>
          <a:xfrm>
            <a:off x="6858000" y="640080"/>
            <a:ext cx="1783080" cy="621792"/>
          </a:xfrm>
          <a:prstGeom prst="rect">
            <a:avLst/>
          </a:prstGeom>
          <a:noFill/>
          <a:ln/>
        </p:spPr>
        <p:txBody>
          <a:bodyPr wrap="square" lIns="0" tIns="0" rIns="0" bIns="0" rtlCol="0" anchor="ctr"/>
          <a:lstStyle/>
          <a:p>
            <a:pPr indent="0" marL="0">
              <a:buNone/>
            </a:pPr>
            <a:r>
              <a:rPr lang="en-US" sz="1400" b="1" dirty="0">
                <a:solidFill>
                  <a:schemeClr val="bg1"/>
                </a:solidFill>
              </a:rPr>
              <a:t>Company Researcher</a:t>
            </a:r>
            <a:endParaRPr lang="en-US" sz="1400" dirty="0"/>
          </a:p>
        </p:txBody>
      </p:sp>
      <p:sp>
        <p:nvSpPr>
          <p:cNvPr id="12" name="Arrow after Company Researcher"/>
          <p:cNvSpPr/>
          <p:nvPr/>
        </p:nvSpPr>
        <p:spPr>
          <a:xfrm>
            <a:off x="7424928" y="1261872"/>
            <a:ext cx="0" cy="219456"/>
          </a:xfrm>
          <a:prstGeom prst="line">
            <a:avLst/>
          </a:prstGeom>
          <a:noFill/>
          <a:ln w="19050">
            <a:solidFill>
              <a:schemeClr val="bg2"/>
            </a:solidFill>
            <a:prstDash val="solid"/>
            <a:tailEnd type="triangle"/>
          </a:ln>
        </p:spPr>
      </p:sp>
      <p:sp>
        <p:nvSpPr>
          <p:cNvPr id="13" name="Role Analyst chip"/>
          <p:cNvSpPr/>
          <p:nvPr/>
        </p:nvSpPr>
        <p:spPr>
          <a:xfrm>
            <a:off x="6172200" y="1481328"/>
            <a:ext cx="2514600" cy="621792"/>
          </a:xfrm>
          <a:prstGeom prst="roundRect">
            <a:avLst>
              <a:gd name="adj" fmla="val 20588"/>
            </a:avLst>
          </a:prstGeom>
          <a:solidFill>
            <a:schemeClr val="bg1">
              <a:alpha val="12000"/>
            </a:schemeClr>
          </a:solidFill>
          <a:ln w="9525">
            <a:solidFill>
              <a:schemeClr val="bg1">
                <a:alpha val="35000"/>
              </a:schemeClr>
            </a:solidFill>
            <a:prstDash val="solid"/>
          </a:ln>
        </p:spPr>
      </p:sp>
      <p:sp>
        <p:nvSpPr>
          <p:cNvPr id="14" name="Role Analyst icon circle"/>
          <p:cNvSpPr/>
          <p:nvPr/>
        </p:nvSpPr>
        <p:spPr>
          <a:xfrm>
            <a:off x="6281928" y="1563624"/>
            <a:ext cx="457200" cy="457200"/>
          </a:xfrm>
          <a:prstGeom prst="ellipse">
            <a:avLst/>
          </a:prstGeom>
          <a:solidFill>
            <a:schemeClr val="accent1"/>
          </a:solidFill>
          <a:ln w="12700">
            <a:solidFill>
              <a:schemeClr val="accent1"/>
            </a:solidFill>
            <a:prstDash val="solid"/>
          </a:ln>
        </p:spPr>
      </p:sp>
      <p:pic>
        <p:nvPicPr>
          <p:cNvPr id="15" name="Role Analyst icon" descr="Role Analyst">    </p:cNvPr>
          <p:cNvPicPr>
            <a:picLocks noChangeAspect="1"/>
          </p:cNvPicPr>
          <p:nvPr/>
        </p:nvPicPr>
        <p:blipFill>
          <a:blip r:embed="rId3"/>
          <a:stretch>
            <a:fillRect/>
          </a:stretch>
        </p:blipFill>
        <p:spPr>
          <a:xfrm>
            <a:off x="6396228" y="1677924"/>
            <a:ext cx="228600" cy="228600"/>
          </a:xfrm>
          <a:prstGeom prst="rect">
            <a:avLst/>
          </a:prstGeom>
        </p:spPr>
      </p:pic>
      <p:sp>
        <p:nvSpPr>
          <p:cNvPr id="16" name="Role Analyst label"/>
          <p:cNvSpPr txBox="1"/>
          <p:nvPr/>
        </p:nvSpPr>
        <p:spPr>
          <a:xfrm>
            <a:off x="6858000" y="1481328"/>
            <a:ext cx="1783080" cy="621792"/>
          </a:xfrm>
          <a:prstGeom prst="rect">
            <a:avLst/>
          </a:prstGeom>
          <a:noFill/>
          <a:ln/>
        </p:spPr>
        <p:txBody>
          <a:bodyPr wrap="square" lIns="0" tIns="0" rIns="0" bIns="0" rtlCol="0" anchor="ctr"/>
          <a:lstStyle/>
          <a:p>
            <a:pPr indent="0" marL="0">
              <a:buNone/>
            </a:pPr>
            <a:r>
              <a:rPr lang="en-US" sz="1400" b="1" dirty="0">
                <a:solidFill>
                  <a:schemeClr val="bg1"/>
                </a:solidFill>
              </a:rPr>
              <a:t>Role Analyst</a:t>
            </a:r>
            <a:endParaRPr lang="en-US" sz="1400" dirty="0"/>
          </a:p>
        </p:txBody>
      </p:sp>
      <p:sp>
        <p:nvSpPr>
          <p:cNvPr id="17" name="Arrow after Role Analyst"/>
          <p:cNvSpPr/>
          <p:nvPr/>
        </p:nvSpPr>
        <p:spPr>
          <a:xfrm>
            <a:off x="7424928" y="2103120"/>
            <a:ext cx="0" cy="219456"/>
          </a:xfrm>
          <a:prstGeom prst="line">
            <a:avLst/>
          </a:prstGeom>
          <a:noFill/>
          <a:ln w="19050">
            <a:solidFill>
              <a:schemeClr val="bg2"/>
            </a:solidFill>
            <a:prstDash val="solid"/>
            <a:tailEnd type="triangle"/>
          </a:ln>
        </p:spPr>
      </p:sp>
      <p:sp>
        <p:nvSpPr>
          <p:cNvPr id="18" name="Question Generator chip"/>
          <p:cNvSpPr/>
          <p:nvPr/>
        </p:nvSpPr>
        <p:spPr>
          <a:xfrm>
            <a:off x="6172200" y="2322576"/>
            <a:ext cx="2514600" cy="621792"/>
          </a:xfrm>
          <a:prstGeom prst="roundRect">
            <a:avLst>
              <a:gd name="adj" fmla="val 20588"/>
            </a:avLst>
          </a:prstGeom>
          <a:solidFill>
            <a:schemeClr val="bg1">
              <a:alpha val="12000"/>
            </a:schemeClr>
          </a:solidFill>
          <a:ln w="9525">
            <a:solidFill>
              <a:schemeClr val="bg1">
                <a:alpha val="35000"/>
              </a:schemeClr>
            </a:solidFill>
            <a:prstDash val="solid"/>
          </a:ln>
        </p:spPr>
      </p:sp>
      <p:sp>
        <p:nvSpPr>
          <p:cNvPr id="19" name="Question Generator icon circle"/>
          <p:cNvSpPr/>
          <p:nvPr/>
        </p:nvSpPr>
        <p:spPr>
          <a:xfrm>
            <a:off x="6281928" y="2404872"/>
            <a:ext cx="457200" cy="457200"/>
          </a:xfrm>
          <a:prstGeom prst="ellipse">
            <a:avLst/>
          </a:prstGeom>
          <a:solidFill>
            <a:schemeClr val="accent1"/>
          </a:solidFill>
          <a:ln w="12700">
            <a:solidFill>
              <a:schemeClr val="accent1"/>
            </a:solidFill>
            <a:prstDash val="solid"/>
          </a:ln>
        </p:spPr>
      </p:sp>
      <p:pic>
        <p:nvPicPr>
          <p:cNvPr id="20" name="Question Generator icon" descr="Question Generator">    </p:cNvPr>
          <p:cNvPicPr>
            <a:picLocks noChangeAspect="1"/>
          </p:cNvPicPr>
          <p:nvPr/>
        </p:nvPicPr>
        <p:blipFill>
          <a:blip r:embed="rId4"/>
          <a:stretch>
            <a:fillRect/>
          </a:stretch>
        </p:blipFill>
        <p:spPr>
          <a:xfrm>
            <a:off x="6396228" y="2519172"/>
            <a:ext cx="228600" cy="228600"/>
          </a:xfrm>
          <a:prstGeom prst="rect">
            <a:avLst/>
          </a:prstGeom>
        </p:spPr>
      </p:pic>
      <p:sp>
        <p:nvSpPr>
          <p:cNvPr id="21" name="Question Generator label"/>
          <p:cNvSpPr txBox="1"/>
          <p:nvPr/>
        </p:nvSpPr>
        <p:spPr>
          <a:xfrm>
            <a:off x="6858000" y="2322576"/>
            <a:ext cx="1783080" cy="621792"/>
          </a:xfrm>
          <a:prstGeom prst="rect">
            <a:avLst/>
          </a:prstGeom>
          <a:noFill/>
          <a:ln/>
        </p:spPr>
        <p:txBody>
          <a:bodyPr wrap="square" lIns="0" tIns="0" rIns="0" bIns="0" rtlCol="0" anchor="ctr"/>
          <a:lstStyle/>
          <a:p>
            <a:pPr indent="0" marL="0">
              <a:buNone/>
            </a:pPr>
            <a:r>
              <a:rPr lang="en-US" sz="1400" b="1" dirty="0">
                <a:solidFill>
                  <a:schemeClr val="bg1"/>
                </a:solidFill>
              </a:rPr>
              <a:t>Question Generator</a:t>
            </a:r>
            <a:endParaRPr lang="en-US" sz="1400" dirty="0"/>
          </a:p>
        </p:txBody>
      </p:sp>
      <p:sp>
        <p:nvSpPr>
          <p:cNvPr id="22" name="Arrow after Question Generator"/>
          <p:cNvSpPr/>
          <p:nvPr/>
        </p:nvSpPr>
        <p:spPr>
          <a:xfrm>
            <a:off x="7424928" y="2944368"/>
            <a:ext cx="0" cy="219456"/>
          </a:xfrm>
          <a:prstGeom prst="line">
            <a:avLst/>
          </a:prstGeom>
          <a:noFill/>
          <a:ln w="19050">
            <a:solidFill>
              <a:schemeClr val="bg2"/>
            </a:solidFill>
            <a:prstDash val="solid"/>
            <a:tailEnd type="triangle"/>
          </a:ln>
        </p:spPr>
      </p:sp>
      <p:sp>
        <p:nvSpPr>
          <p:cNvPr id="23" name="Answer Coach chip"/>
          <p:cNvSpPr/>
          <p:nvPr/>
        </p:nvSpPr>
        <p:spPr>
          <a:xfrm>
            <a:off x="6172200" y="3163824"/>
            <a:ext cx="2514600" cy="621792"/>
          </a:xfrm>
          <a:prstGeom prst="roundRect">
            <a:avLst>
              <a:gd name="adj" fmla="val 20588"/>
            </a:avLst>
          </a:prstGeom>
          <a:solidFill>
            <a:schemeClr val="bg1">
              <a:alpha val="12000"/>
            </a:schemeClr>
          </a:solidFill>
          <a:ln w="9525">
            <a:solidFill>
              <a:schemeClr val="bg1">
                <a:alpha val="35000"/>
              </a:schemeClr>
            </a:solidFill>
            <a:prstDash val="solid"/>
          </a:ln>
        </p:spPr>
      </p:sp>
      <p:sp>
        <p:nvSpPr>
          <p:cNvPr id="24" name="Answer Coach icon circle"/>
          <p:cNvSpPr/>
          <p:nvPr/>
        </p:nvSpPr>
        <p:spPr>
          <a:xfrm>
            <a:off x="6281928" y="3246120"/>
            <a:ext cx="457200" cy="457200"/>
          </a:xfrm>
          <a:prstGeom prst="ellipse">
            <a:avLst/>
          </a:prstGeom>
          <a:solidFill>
            <a:schemeClr val="accent1"/>
          </a:solidFill>
          <a:ln w="12700">
            <a:solidFill>
              <a:schemeClr val="accent1"/>
            </a:solidFill>
            <a:prstDash val="solid"/>
          </a:ln>
        </p:spPr>
      </p:sp>
      <p:pic>
        <p:nvPicPr>
          <p:cNvPr id="25" name="Answer Coach icon" descr="Answer Coach">    </p:cNvPr>
          <p:cNvPicPr>
            <a:picLocks noChangeAspect="1"/>
          </p:cNvPicPr>
          <p:nvPr/>
        </p:nvPicPr>
        <p:blipFill>
          <a:blip r:embed="rId5"/>
          <a:stretch>
            <a:fillRect/>
          </a:stretch>
        </p:blipFill>
        <p:spPr>
          <a:xfrm>
            <a:off x="6396228" y="3360420"/>
            <a:ext cx="228600" cy="228600"/>
          </a:xfrm>
          <a:prstGeom prst="rect">
            <a:avLst/>
          </a:prstGeom>
        </p:spPr>
      </p:pic>
      <p:sp>
        <p:nvSpPr>
          <p:cNvPr id="26" name="Answer Coach label"/>
          <p:cNvSpPr txBox="1"/>
          <p:nvPr/>
        </p:nvSpPr>
        <p:spPr>
          <a:xfrm>
            <a:off x="6858000" y="3163824"/>
            <a:ext cx="1783080" cy="621792"/>
          </a:xfrm>
          <a:prstGeom prst="rect">
            <a:avLst/>
          </a:prstGeom>
          <a:noFill/>
          <a:ln/>
        </p:spPr>
        <p:txBody>
          <a:bodyPr wrap="square" lIns="0" tIns="0" rIns="0" bIns="0" rtlCol="0" anchor="ctr"/>
          <a:lstStyle/>
          <a:p>
            <a:pPr indent="0" marL="0">
              <a:buNone/>
            </a:pPr>
            <a:r>
              <a:rPr lang="en-US" sz="1400" b="1" dirty="0">
                <a:solidFill>
                  <a:schemeClr val="bg1"/>
                </a:solidFill>
              </a:rPr>
              <a:t>Answer Coach</a:t>
            </a:r>
            <a:endParaRPr lang="en-US" sz="1400" dirty="0"/>
          </a:p>
        </p:txBody>
      </p:sp>
      <p:sp>
        <p:nvSpPr>
          <p:cNvPr id="27" name="ATS Resume Reviewer chip"/>
          <p:cNvSpPr/>
          <p:nvPr/>
        </p:nvSpPr>
        <p:spPr>
          <a:xfrm>
            <a:off x="6172200" y="4142232"/>
            <a:ext cx="2514600" cy="621792"/>
          </a:xfrm>
          <a:prstGeom prst="roundRect">
            <a:avLst>
              <a:gd name="adj" fmla="val 20588"/>
            </a:avLst>
          </a:prstGeom>
          <a:solidFill>
            <a:schemeClr val="bg1">
              <a:alpha val="12000"/>
            </a:schemeClr>
          </a:solidFill>
          <a:ln w="9525">
            <a:solidFill>
              <a:schemeClr val="bg1">
                <a:alpha val="35000"/>
              </a:schemeClr>
            </a:solidFill>
            <a:prstDash val="solid"/>
          </a:ln>
        </p:spPr>
      </p:sp>
      <p:sp>
        <p:nvSpPr>
          <p:cNvPr id="28" name="ATS Resume Reviewer icon circle"/>
          <p:cNvSpPr/>
          <p:nvPr/>
        </p:nvSpPr>
        <p:spPr>
          <a:xfrm>
            <a:off x="6281928" y="4224528"/>
            <a:ext cx="457200" cy="457200"/>
          </a:xfrm>
          <a:prstGeom prst="ellipse">
            <a:avLst/>
          </a:prstGeom>
          <a:solidFill>
            <a:schemeClr val="accent3"/>
          </a:solidFill>
          <a:ln w="12700">
            <a:solidFill>
              <a:schemeClr val="accent3"/>
            </a:solidFill>
            <a:prstDash val="solid"/>
          </a:ln>
        </p:spPr>
      </p:sp>
      <p:pic>
        <p:nvPicPr>
          <p:cNvPr id="29" name="ATS Resume Reviewer icon" descr="ATS Resume Reviewer">    </p:cNvPr>
          <p:cNvPicPr>
            <a:picLocks noChangeAspect="1"/>
          </p:cNvPicPr>
          <p:nvPr/>
        </p:nvPicPr>
        <p:blipFill>
          <a:blip r:embed="rId6"/>
          <a:stretch>
            <a:fillRect/>
          </a:stretch>
        </p:blipFill>
        <p:spPr>
          <a:xfrm>
            <a:off x="6396228" y="4338828"/>
            <a:ext cx="228600" cy="228600"/>
          </a:xfrm>
          <a:prstGeom prst="rect">
            <a:avLst/>
          </a:prstGeom>
        </p:spPr>
      </p:pic>
      <p:sp>
        <p:nvSpPr>
          <p:cNvPr id="30" name="ATS Resume Reviewer label"/>
          <p:cNvSpPr txBox="1"/>
          <p:nvPr/>
        </p:nvSpPr>
        <p:spPr>
          <a:xfrm>
            <a:off x="6858000" y="4142232"/>
            <a:ext cx="1783080" cy="621792"/>
          </a:xfrm>
          <a:prstGeom prst="rect">
            <a:avLst/>
          </a:prstGeom>
          <a:noFill/>
          <a:ln/>
        </p:spPr>
        <p:txBody>
          <a:bodyPr wrap="square" lIns="0" tIns="0" rIns="0" bIns="0" rtlCol="0" anchor="ctr"/>
          <a:lstStyle/>
          <a:p>
            <a:pPr indent="0" marL="0">
              <a:buNone/>
            </a:pPr>
            <a:r>
              <a:rPr lang="en-US" sz="1400" b="1" dirty="0">
                <a:solidFill>
                  <a:schemeClr val="bg1"/>
                </a:solidFill>
              </a:rPr>
              <a:t>ATS Resume Reviewer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Problem Statement and Objectives</a:t>
            </a:r>
            <a:endParaRPr lang="en-US" sz="3000" dirty="0"/>
          </a:p>
        </p:txBody>
      </p:sp>
      <p:sp>
        <p:nvSpPr>
          <p:cNvPr id="3" name="Problem card"/>
          <p:cNvSpPr/>
          <p:nvPr/>
        </p:nvSpPr>
        <p:spPr>
          <a:xfrm>
            <a:off x="457200" y="1143000"/>
            <a:ext cx="4846320" cy="3474720"/>
          </a:xfrm>
          <a:prstGeom prst="roundRect">
            <a:avLst>
              <a:gd name="adj" fmla="val 3158"/>
            </a:avLst>
          </a:prstGeom>
          <a:solidFill>
            <a:schemeClr val="bg1"/>
          </a:solidFill>
          <a:ln w="12700">
            <a:solidFill>
              <a:schemeClr val="bg1"/>
            </a:solidFill>
            <a:prstDash val="solid"/>
          </a:ln>
          <a:effectLst>
            <a:outerShdw sx="100000" sy="100000" kx="0" ky="0" algn="bl" rotWithShape="0" blurRad="114300" dist="25400" dir="5400000">
              <a:srgbClr val="142238">
                <a:alpha val="13000"/>
              </a:srgbClr>
            </a:outerShdw>
          </a:effectLst>
        </p:spPr>
      </p:sp>
      <p:sp>
        <p:nvSpPr>
          <p:cNvPr id="4" name="Problem heading"/>
          <p:cNvSpPr txBox="1"/>
          <p:nvPr/>
        </p:nvSpPr>
        <p:spPr>
          <a:xfrm>
            <a:off x="685800" y="1261872"/>
            <a:ext cx="4389120" cy="320040"/>
          </a:xfrm>
          <a:prstGeom prst="rect">
            <a:avLst/>
          </a:prstGeom>
          <a:noFill/>
          <a:ln/>
        </p:spPr>
        <p:txBody>
          <a:bodyPr wrap="square" lIns="0" tIns="0" rIns="0" bIns="0" rtlCol="0" anchor="ctr"/>
          <a:lstStyle/>
          <a:p>
            <a:pPr indent="0" marL="0">
              <a:buNone/>
            </a:pPr>
            <a:r>
              <a:rPr lang="en-US" sz="1800" b="1" dirty="0">
                <a:solidFill>
                  <a:schemeClr val="tx2"/>
                </a:solidFill>
              </a:rPr>
              <a:t>The problem</a:t>
            </a:r>
            <a:endParaRPr lang="en-US" sz="1800" dirty="0"/>
          </a:p>
        </p:txBody>
      </p:sp>
      <p:sp>
        <p:nvSpPr>
          <p:cNvPr id="5" name="Scattered preparation icon circle"/>
          <p:cNvSpPr/>
          <p:nvPr/>
        </p:nvSpPr>
        <p:spPr>
          <a:xfrm>
            <a:off x="685800" y="1719072"/>
            <a:ext cx="502920" cy="502920"/>
          </a:xfrm>
          <a:prstGeom prst="ellipse">
            <a:avLst/>
          </a:prstGeom>
          <a:solidFill>
            <a:schemeClr val="accent1"/>
          </a:solidFill>
          <a:ln w="12700">
            <a:solidFill>
              <a:schemeClr val="accent1"/>
            </a:solidFill>
            <a:prstDash val="solid"/>
          </a:ln>
        </p:spPr>
      </p:sp>
      <p:pic>
        <p:nvPicPr>
          <p:cNvPr id="6" name="Scattered preparation icon" descr="Scattered preparation">    </p:cNvPr>
          <p:cNvPicPr>
            <a:picLocks noChangeAspect="1"/>
          </p:cNvPicPr>
          <p:nvPr/>
        </p:nvPicPr>
        <p:blipFill>
          <a:blip r:embed="rId1"/>
          <a:stretch>
            <a:fillRect/>
          </a:stretch>
        </p:blipFill>
        <p:spPr>
          <a:xfrm>
            <a:off x="811530" y="1844802"/>
            <a:ext cx="251460" cy="251460"/>
          </a:xfrm>
          <a:prstGeom prst="rect">
            <a:avLst/>
          </a:prstGeom>
        </p:spPr>
      </p:pic>
      <p:sp>
        <p:nvSpPr>
          <p:cNvPr id="7" name="Scattered preparation text"/>
          <p:cNvSpPr txBox="1"/>
          <p:nvPr/>
        </p:nvSpPr>
        <p:spPr>
          <a:xfrm>
            <a:off x="1325880" y="1682496"/>
            <a:ext cx="3840480" cy="585216"/>
          </a:xfrm>
          <a:prstGeom prst="rect">
            <a:avLst/>
          </a:prstGeom>
          <a:noFill/>
          <a:ln/>
        </p:spPr>
        <p:txBody>
          <a:bodyPr wrap="square" lIns="0" tIns="0" rIns="0" bIns="0" rtlCol="0" anchor="ctr"/>
          <a:lstStyle/>
          <a:p>
            <a:pPr indent="0" marL="0">
              <a:buNone/>
            </a:pPr>
            <a:r>
              <a:rPr lang="en-US" sz="1500" b="1" dirty="0">
                <a:solidFill>
                  <a:schemeClr val="tx1"/>
                </a:solidFill>
              </a:rPr>
              <a:t>Scattered preparation</a:t>
            </a:r>
            <a:endParaRPr lang="en-US" sz="1500" dirty="0"/>
          </a:p>
          <a:p>
            <a:pPr indent="0" marL="0">
              <a:buNone/>
            </a:pPr>
            <a:r>
              <a:rPr lang="en-US" sz="1200" dirty="0">
                <a:solidFill>
                  <a:schemeClr val="accent6"/>
                </a:solidFill>
              </a:rPr>
              <a:t>Company facts, role needs and interview tips sit on many sites</a:t>
            </a:r>
            <a:endParaRPr lang="en-US" sz="1500" dirty="0"/>
          </a:p>
        </p:txBody>
      </p:sp>
      <p:sp>
        <p:nvSpPr>
          <p:cNvPr id="8" name="Generic practice icon circle"/>
          <p:cNvSpPr/>
          <p:nvPr/>
        </p:nvSpPr>
        <p:spPr>
          <a:xfrm>
            <a:off x="685800" y="2432304"/>
            <a:ext cx="502920" cy="502920"/>
          </a:xfrm>
          <a:prstGeom prst="ellipse">
            <a:avLst/>
          </a:prstGeom>
          <a:solidFill>
            <a:schemeClr val="accent1"/>
          </a:solidFill>
          <a:ln w="12700">
            <a:solidFill>
              <a:schemeClr val="accent1"/>
            </a:solidFill>
            <a:prstDash val="solid"/>
          </a:ln>
        </p:spPr>
      </p:sp>
      <p:pic>
        <p:nvPicPr>
          <p:cNvPr id="9" name="Generic practice icon" descr="Generic practice">    </p:cNvPr>
          <p:cNvPicPr>
            <a:picLocks noChangeAspect="1"/>
          </p:cNvPicPr>
          <p:nvPr/>
        </p:nvPicPr>
        <p:blipFill>
          <a:blip r:embed="rId2"/>
          <a:stretch>
            <a:fillRect/>
          </a:stretch>
        </p:blipFill>
        <p:spPr>
          <a:xfrm>
            <a:off x="811530" y="2558034"/>
            <a:ext cx="251460" cy="251460"/>
          </a:xfrm>
          <a:prstGeom prst="rect">
            <a:avLst/>
          </a:prstGeom>
        </p:spPr>
      </p:pic>
      <p:sp>
        <p:nvSpPr>
          <p:cNvPr id="10" name="Generic practice text"/>
          <p:cNvSpPr txBox="1"/>
          <p:nvPr/>
        </p:nvSpPr>
        <p:spPr>
          <a:xfrm>
            <a:off x="1325880" y="2395728"/>
            <a:ext cx="3840480" cy="585216"/>
          </a:xfrm>
          <a:prstGeom prst="rect">
            <a:avLst/>
          </a:prstGeom>
          <a:noFill/>
          <a:ln/>
        </p:spPr>
        <p:txBody>
          <a:bodyPr wrap="square" lIns="0" tIns="0" rIns="0" bIns="0" rtlCol="0" anchor="ctr"/>
          <a:lstStyle/>
          <a:p>
            <a:pPr indent="0" marL="0">
              <a:buNone/>
            </a:pPr>
            <a:r>
              <a:rPr lang="en-US" sz="1500" b="1" dirty="0">
                <a:solidFill>
                  <a:schemeClr val="tx1"/>
                </a:solidFill>
              </a:rPr>
              <a:t>Generic practice</a:t>
            </a:r>
            <a:endParaRPr lang="en-US" sz="1500" dirty="0"/>
          </a:p>
          <a:p>
            <a:pPr indent="0" marL="0">
              <a:buNone/>
            </a:pPr>
            <a:r>
              <a:rPr lang="en-US" sz="1200" dirty="0">
                <a:solidFill>
                  <a:schemeClr val="accent6"/>
                </a:solidFill>
              </a:rPr>
              <a:t>One chatbot prompt ignores real facts and your projects</a:t>
            </a:r>
            <a:endParaRPr lang="en-US" sz="1500" dirty="0"/>
          </a:p>
        </p:txBody>
      </p:sp>
      <p:sp>
        <p:nvSpPr>
          <p:cNvPr id="11" name="Opaque resume screening icon circle"/>
          <p:cNvSpPr/>
          <p:nvPr/>
        </p:nvSpPr>
        <p:spPr>
          <a:xfrm>
            <a:off x="685800" y="3145536"/>
            <a:ext cx="502920" cy="502920"/>
          </a:xfrm>
          <a:prstGeom prst="ellipse">
            <a:avLst/>
          </a:prstGeom>
          <a:solidFill>
            <a:schemeClr val="accent1"/>
          </a:solidFill>
          <a:ln w="12700">
            <a:solidFill>
              <a:schemeClr val="accent1"/>
            </a:solidFill>
            <a:prstDash val="solid"/>
          </a:ln>
        </p:spPr>
      </p:sp>
      <p:pic>
        <p:nvPicPr>
          <p:cNvPr id="12" name="Opaque resume screening icon" descr="Opaque resume screening">    </p:cNvPr>
          <p:cNvPicPr>
            <a:picLocks noChangeAspect="1"/>
          </p:cNvPicPr>
          <p:nvPr/>
        </p:nvPicPr>
        <p:blipFill>
          <a:blip r:embed="rId3"/>
          <a:stretch>
            <a:fillRect/>
          </a:stretch>
        </p:blipFill>
        <p:spPr>
          <a:xfrm>
            <a:off x="811530" y="3271266"/>
            <a:ext cx="251460" cy="251460"/>
          </a:xfrm>
          <a:prstGeom prst="rect">
            <a:avLst/>
          </a:prstGeom>
        </p:spPr>
      </p:pic>
      <p:sp>
        <p:nvSpPr>
          <p:cNvPr id="13" name="Opaque resume screening text"/>
          <p:cNvSpPr txBox="1"/>
          <p:nvPr/>
        </p:nvSpPr>
        <p:spPr>
          <a:xfrm>
            <a:off x="1325880" y="3108960"/>
            <a:ext cx="3840480" cy="585216"/>
          </a:xfrm>
          <a:prstGeom prst="rect">
            <a:avLst/>
          </a:prstGeom>
          <a:noFill/>
          <a:ln/>
        </p:spPr>
        <p:txBody>
          <a:bodyPr wrap="square" lIns="0" tIns="0" rIns="0" bIns="0" rtlCol="0" anchor="ctr"/>
          <a:lstStyle/>
          <a:p>
            <a:pPr indent="0" marL="0">
              <a:buNone/>
            </a:pPr>
            <a:r>
              <a:rPr lang="en-US" sz="1500" b="1" dirty="0">
                <a:solidFill>
                  <a:schemeClr val="tx1"/>
                </a:solidFill>
              </a:rPr>
              <a:t>Opaque resume screening</a:t>
            </a:r>
            <a:endParaRPr lang="en-US" sz="1500" dirty="0"/>
          </a:p>
          <a:p>
            <a:pPr indent="0" marL="0">
              <a:buNone/>
            </a:pPr>
            <a:r>
              <a:rPr lang="en-US" sz="1200" dirty="0">
                <a:solidFill>
                  <a:schemeClr val="accent6"/>
                </a:solidFill>
              </a:rPr>
              <a:t>You rarely learn why an ATS rejects a resume</a:t>
            </a:r>
            <a:endParaRPr lang="en-US" sz="1500" dirty="0"/>
          </a:p>
        </p:txBody>
      </p:sp>
      <p:sp>
        <p:nvSpPr>
          <p:cNvPr id="14" name="Unverifiable AI output icon circle"/>
          <p:cNvSpPr/>
          <p:nvPr/>
        </p:nvSpPr>
        <p:spPr>
          <a:xfrm>
            <a:off x="685800" y="3858768"/>
            <a:ext cx="502920" cy="502920"/>
          </a:xfrm>
          <a:prstGeom prst="ellipse">
            <a:avLst/>
          </a:prstGeom>
          <a:solidFill>
            <a:schemeClr val="accent1"/>
          </a:solidFill>
          <a:ln w="12700">
            <a:solidFill>
              <a:schemeClr val="accent1"/>
            </a:solidFill>
            <a:prstDash val="solid"/>
          </a:ln>
        </p:spPr>
      </p:sp>
      <p:pic>
        <p:nvPicPr>
          <p:cNvPr id="15" name="Unverifiable AI output icon" descr="Unverifiable AI output">    </p:cNvPr>
          <p:cNvPicPr>
            <a:picLocks noChangeAspect="1"/>
          </p:cNvPicPr>
          <p:nvPr/>
        </p:nvPicPr>
        <p:blipFill>
          <a:blip r:embed="rId4"/>
          <a:stretch>
            <a:fillRect/>
          </a:stretch>
        </p:blipFill>
        <p:spPr>
          <a:xfrm>
            <a:off x="811530" y="3984498"/>
            <a:ext cx="251460" cy="251460"/>
          </a:xfrm>
          <a:prstGeom prst="rect">
            <a:avLst/>
          </a:prstGeom>
        </p:spPr>
      </p:pic>
      <p:sp>
        <p:nvSpPr>
          <p:cNvPr id="16" name="Unverifiable AI output text"/>
          <p:cNvSpPr txBox="1"/>
          <p:nvPr/>
        </p:nvSpPr>
        <p:spPr>
          <a:xfrm>
            <a:off x="1325880" y="3822192"/>
            <a:ext cx="3840480" cy="585216"/>
          </a:xfrm>
          <a:prstGeom prst="rect">
            <a:avLst/>
          </a:prstGeom>
          <a:noFill/>
          <a:ln/>
        </p:spPr>
        <p:txBody>
          <a:bodyPr wrap="square" lIns="0" tIns="0" rIns="0" bIns="0" rtlCol="0" anchor="ctr"/>
          <a:lstStyle/>
          <a:p>
            <a:pPr indent="0" marL="0">
              <a:buNone/>
            </a:pPr>
            <a:r>
              <a:rPr lang="en-US" sz="1500" b="1" dirty="0">
                <a:solidFill>
                  <a:schemeClr val="tx1"/>
                </a:solidFill>
              </a:rPr>
              <a:t>Unverifiable AI output</a:t>
            </a:r>
            <a:endParaRPr lang="en-US" sz="1500" dirty="0"/>
          </a:p>
          <a:p>
            <a:pPr indent="0" marL="0">
              <a:buNone/>
            </a:pPr>
            <a:r>
              <a:rPr lang="en-US" sz="1200" dirty="0">
                <a:solidFill>
                  <a:schemeClr val="accent6"/>
                </a:solidFill>
              </a:rPr>
              <a:t>Answers come with no sources to check</a:t>
            </a:r>
            <a:endParaRPr lang="en-US" sz="1500" dirty="0"/>
          </a:p>
        </p:txBody>
      </p:sp>
      <p:sp>
        <p:nvSpPr>
          <p:cNvPr id="17" name="Objectives card"/>
          <p:cNvSpPr/>
          <p:nvPr/>
        </p:nvSpPr>
        <p:spPr>
          <a:xfrm>
            <a:off x="5532120" y="1143000"/>
            <a:ext cx="3154680" cy="3474720"/>
          </a:xfrm>
          <a:prstGeom prst="roundRect">
            <a:avLst>
              <a:gd name="adj" fmla="val 3478"/>
            </a:avLst>
          </a:prstGeom>
          <a:solidFill>
            <a:schemeClr val="tx2"/>
          </a:solidFill>
          <a:ln w="12700">
            <a:solidFill>
              <a:schemeClr val="tx2"/>
            </a:solidFill>
            <a:prstDash val="solid"/>
          </a:ln>
          <a:effectLst>
            <a:outerShdw sx="100000" sy="100000" kx="0" ky="0" algn="bl" rotWithShape="0" blurRad="114300" dist="25400" dir="5400000">
              <a:srgbClr val="142238">
                <a:alpha val="13000"/>
              </a:srgbClr>
            </a:outerShdw>
          </a:effectLst>
        </p:spPr>
      </p:sp>
      <p:sp>
        <p:nvSpPr>
          <p:cNvPr id="18" name="Objectives heading"/>
          <p:cNvSpPr txBox="1"/>
          <p:nvPr/>
        </p:nvSpPr>
        <p:spPr>
          <a:xfrm>
            <a:off x="5760720" y="1261872"/>
            <a:ext cx="2743200" cy="320040"/>
          </a:xfrm>
          <a:prstGeom prst="rect">
            <a:avLst/>
          </a:prstGeom>
          <a:noFill/>
          <a:ln/>
        </p:spPr>
        <p:txBody>
          <a:bodyPr wrap="square" lIns="0" tIns="0" rIns="0" bIns="0" rtlCol="0" anchor="ctr"/>
          <a:lstStyle/>
          <a:p>
            <a:pPr indent="0" marL="0">
              <a:buNone/>
            </a:pPr>
            <a:r>
              <a:rPr lang="en-US" sz="1800" b="1" dirty="0">
                <a:solidFill>
                  <a:schemeClr val="bg1"/>
                </a:solidFill>
              </a:rPr>
              <a:t>Objectives</a:t>
            </a:r>
            <a:endParaRPr lang="en-US" sz="1800" dirty="0"/>
          </a:p>
        </p:txBody>
      </p:sp>
      <p:sp>
        <p:nvSpPr>
          <p:cNvPr id="19" name="Objectives list"/>
          <p:cNvSpPr txBox="1"/>
          <p:nvPr/>
        </p:nvSpPr>
        <p:spPr>
          <a:xfrm>
            <a:off x="5760720" y="1691640"/>
            <a:ext cx="2743200" cy="278892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chemeClr val="bg1"/>
                </a:solidFill>
              </a:rPr>
              <a:t>Live view of every agent step</a:t>
            </a:r>
            <a:endParaRPr lang="en-US" sz="1400" dirty="0"/>
          </a:p>
          <a:p>
            <a:pPr marL="342900" indent="-342900">
              <a:spcAft>
                <a:spcPts val="700"/>
              </a:spcAft>
              <a:buSzPct val="100000"/>
              <a:buChar char="•"/>
            </a:pPr>
            <a:r>
              <a:rPr lang="en-US" sz="1400" dirty="0">
                <a:solidFill>
                  <a:schemeClr val="bg1"/>
                </a:solidFill>
              </a:rPr>
              <a:t>Sourced company and role research</a:t>
            </a:r>
            <a:endParaRPr lang="en-US" sz="1400" dirty="0"/>
          </a:p>
          <a:p>
            <a:pPr marL="342900" indent="-342900">
              <a:spcAft>
                <a:spcPts val="700"/>
              </a:spcAft>
              <a:buSzPct val="100000"/>
              <a:buChar char="•"/>
            </a:pPr>
            <a:r>
              <a:rPr lang="en-US" sz="1400" dirty="0">
                <a:solidFill>
                  <a:schemeClr val="bg1"/>
                </a:solidFill>
              </a:rPr>
              <a:t>Ten questions and coached answers, personalised from the resume</a:t>
            </a:r>
            <a:endParaRPr lang="en-US" sz="1400" dirty="0"/>
          </a:p>
          <a:p>
            <a:pPr marL="342900" indent="-342900">
              <a:spcAft>
                <a:spcPts val="700"/>
              </a:spcAft>
              <a:buSzPct val="100000"/>
              <a:buChar char="•"/>
            </a:pPr>
            <a:r>
              <a:rPr lang="en-US" sz="1400" dirty="0">
                <a:solidFill>
                  <a:schemeClr val="bg1"/>
                </a:solidFill>
              </a:rPr>
              <a:t>Resume ATS score out of 100 plus an AI review</a:t>
            </a:r>
            <a:endParaRPr lang="en-US" sz="1400" dirty="0"/>
          </a:p>
          <a:p>
            <a:pPr marL="342900" indent="-342900">
              <a:spcAft>
                <a:spcPts val="700"/>
              </a:spcAft>
              <a:buSzPct val="100000"/>
              <a:buChar char="•"/>
            </a:pPr>
            <a:r>
              <a:rPr lang="en-US" sz="1400" dirty="0">
                <a:solidFill>
                  <a:schemeClr val="bg1"/>
                </a:solidFill>
              </a:rPr>
              <a:t>Resumes never stored</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Literature Survey and Research Gap</a:t>
            </a:r>
            <a:endParaRPr lang="en-US" sz="3000" dirty="0"/>
          </a:p>
        </p:txBody>
      </p:sp>
      <p:sp>
        <p:nvSpPr>
          <p:cNvPr id="3" name="Reasoning and acting card"/>
          <p:cNvSpPr/>
          <p:nvPr/>
        </p:nvSpPr>
        <p:spPr>
          <a:xfrm>
            <a:off x="457200" y="1143000"/>
            <a:ext cx="1920240" cy="2377440"/>
          </a:xfrm>
          <a:prstGeom prst="roundRect">
            <a:avLst>
              <a:gd name="adj" fmla="val 5714"/>
            </a:avLst>
          </a:prstGeom>
          <a:solidFill>
            <a:schemeClr val="bg1"/>
          </a:solidFill>
          <a:ln w="12700">
            <a:solidFill>
              <a:schemeClr val="bg1"/>
            </a:solidFill>
            <a:prstDash val="solid"/>
          </a:ln>
          <a:effectLst>
            <a:outerShdw sx="100000" sy="100000" kx="0" ky="0" algn="bl" rotWithShape="0" blurRad="114300" dist="25400" dir="5400000">
              <a:srgbClr val="142238">
                <a:alpha val="13000"/>
              </a:srgbClr>
            </a:outerShdw>
          </a:effectLst>
        </p:spPr>
      </p:sp>
      <p:sp>
        <p:nvSpPr>
          <p:cNvPr id="4" name="Reasoning and acting icon circle"/>
          <p:cNvSpPr/>
          <p:nvPr/>
        </p:nvSpPr>
        <p:spPr>
          <a:xfrm>
            <a:off x="640080" y="1298448"/>
            <a:ext cx="502920" cy="502920"/>
          </a:xfrm>
          <a:prstGeom prst="ellipse">
            <a:avLst/>
          </a:prstGeom>
          <a:solidFill>
            <a:schemeClr val="accent1"/>
          </a:solidFill>
          <a:ln w="12700">
            <a:solidFill>
              <a:schemeClr val="accent1"/>
            </a:solidFill>
            <a:prstDash val="solid"/>
          </a:ln>
        </p:spPr>
      </p:sp>
      <p:pic>
        <p:nvPicPr>
          <p:cNvPr id="5" name="Reasoning and acting icon" descr="Reasoning and acting">    </p:cNvPr>
          <p:cNvPicPr>
            <a:picLocks noChangeAspect="1"/>
          </p:cNvPicPr>
          <p:nvPr/>
        </p:nvPicPr>
        <p:blipFill>
          <a:blip r:embed="rId1"/>
          <a:stretch>
            <a:fillRect/>
          </a:stretch>
        </p:blipFill>
        <p:spPr>
          <a:xfrm>
            <a:off x="765810" y="1424178"/>
            <a:ext cx="251460" cy="251460"/>
          </a:xfrm>
          <a:prstGeom prst="rect">
            <a:avLst/>
          </a:prstGeom>
        </p:spPr>
      </p:pic>
      <p:sp>
        <p:nvSpPr>
          <p:cNvPr id="6" name="Reasoning and acting title"/>
          <p:cNvSpPr txBox="1"/>
          <p:nvPr/>
        </p:nvSpPr>
        <p:spPr>
          <a:xfrm>
            <a:off x="640080" y="1874520"/>
            <a:ext cx="1600200" cy="502920"/>
          </a:xfrm>
          <a:prstGeom prst="rect">
            <a:avLst/>
          </a:prstGeom>
          <a:noFill/>
          <a:ln/>
        </p:spPr>
        <p:txBody>
          <a:bodyPr wrap="square" lIns="0" tIns="0" rIns="0" bIns="0" rtlCol="0" anchor="t"/>
          <a:lstStyle/>
          <a:p>
            <a:pPr indent="0" marL="0">
              <a:buNone/>
            </a:pPr>
            <a:r>
              <a:rPr lang="en-US" sz="1500" b="1" dirty="0">
                <a:solidFill>
                  <a:schemeClr val="tx2"/>
                </a:solidFill>
              </a:rPr>
              <a:t>Reasoning and acting</a:t>
            </a:r>
            <a:endParaRPr lang="en-US" sz="1500" dirty="0"/>
          </a:p>
        </p:txBody>
      </p:sp>
      <p:sp>
        <p:nvSpPr>
          <p:cNvPr id="7" name="Reasoning and acting text"/>
          <p:cNvSpPr txBox="1"/>
          <p:nvPr/>
        </p:nvSpPr>
        <p:spPr>
          <a:xfrm>
            <a:off x="640080" y="2450592"/>
            <a:ext cx="1600200" cy="777240"/>
          </a:xfrm>
          <a:prstGeom prst="rect">
            <a:avLst/>
          </a:prstGeom>
          <a:noFill/>
          <a:ln/>
        </p:spPr>
        <p:txBody>
          <a:bodyPr wrap="square" lIns="0" tIns="0" rIns="0" bIns="0" rtlCol="0" anchor="t"/>
          <a:lstStyle/>
          <a:p>
            <a:pPr indent="0" marL="0">
              <a:buNone/>
            </a:pPr>
            <a:r>
              <a:rPr lang="en-US" sz="1200" dirty="0">
                <a:solidFill>
                  <a:schemeClr val="tx1"/>
                </a:solidFill>
              </a:rPr>
              <a:t>Chain-of-thought and ReAct mix thinking with search: the loop our research agents follow.</a:t>
            </a:r>
            <a:endParaRPr lang="en-US" sz="1200" dirty="0"/>
          </a:p>
        </p:txBody>
      </p:sp>
      <p:sp>
        <p:nvSpPr>
          <p:cNvPr id="8" name="Reasoning and acting references"/>
          <p:cNvSpPr txBox="1"/>
          <p:nvPr/>
        </p:nvSpPr>
        <p:spPr>
          <a:xfrm>
            <a:off x="640080" y="3200400"/>
            <a:ext cx="1600200" cy="228600"/>
          </a:xfrm>
          <a:prstGeom prst="rect">
            <a:avLst/>
          </a:prstGeom>
          <a:noFill/>
          <a:ln/>
        </p:spPr>
        <p:txBody>
          <a:bodyPr wrap="square" lIns="0" tIns="0" rIns="0" bIns="0" rtlCol="0" anchor="ctr"/>
          <a:lstStyle/>
          <a:p>
            <a:pPr indent="0" marL="0">
              <a:buNone/>
            </a:pPr>
            <a:r>
              <a:rPr lang="en-US" sz="1100" b="1" dirty="0">
                <a:solidFill>
                  <a:schemeClr val="accent1"/>
                </a:solidFill>
              </a:rPr>
              <a:t>[1] [2]</a:t>
            </a:r>
            <a:endParaRPr lang="en-US" sz="1100" dirty="0"/>
          </a:p>
        </p:txBody>
      </p:sp>
      <p:sp>
        <p:nvSpPr>
          <p:cNvPr id="9" name="Tool use and grounding card"/>
          <p:cNvSpPr/>
          <p:nvPr/>
        </p:nvSpPr>
        <p:spPr>
          <a:xfrm>
            <a:off x="2560320" y="1143000"/>
            <a:ext cx="1920240" cy="2377440"/>
          </a:xfrm>
          <a:prstGeom prst="roundRect">
            <a:avLst>
              <a:gd name="adj" fmla="val 5714"/>
            </a:avLst>
          </a:prstGeom>
          <a:solidFill>
            <a:schemeClr val="bg1"/>
          </a:solidFill>
          <a:ln w="12700">
            <a:solidFill>
              <a:schemeClr val="bg1"/>
            </a:solidFill>
            <a:prstDash val="solid"/>
          </a:ln>
          <a:effectLst>
            <a:outerShdw sx="100000" sy="100000" kx="0" ky="0" algn="bl" rotWithShape="0" blurRad="114300" dist="25400" dir="5400000">
              <a:srgbClr val="142238">
                <a:alpha val="13000"/>
              </a:srgbClr>
            </a:outerShdw>
          </a:effectLst>
        </p:spPr>
      </p:sp>
      <p:sp>
        <p:nvSpPr>
          <p:cNvPr id="10" name="Tool use and grounding icon circle"/>
          <p:cNvSpPr/>
          <p:nvPr/>
        </p:nvSpPr>
        <p:spPr>
          <a:xfrm>
            <a:off x="2743200" y="1298448"/>
            <a:ext cx="502920" cy="502920"/>
          </a:xfrm>
          <a:prstGeom prst="ellipse">
            <a:avLst/>
          </a:prstGeom>
          <a:solidFill>
            <a:schemeClr val="accent1"/>
          </a:solidFill>
          <a:ln w="12700">
            <a:solidFill>
              <a:schemeClr val="accent1"/>
            </a:solidFill>
            <a:prstDash val="solid"/>
          </a:ln>
        </p:spPr>
      </p:sp>
      <p:pic>
        <p:nvPicPr>
          <p:cNvPr id="11" name="Tool use and grounding icon" descr="Tool use and grounding">    </p:cNvPr>
          <p:cNvPicPr>
            <a:picLocks noChangeAspect="1"/>
          </p:cNvPicPr>
          <p:nvPr/>
        </p:nvPicPr>
        <p:blipFill>
          <a:blip r:embed="rId2"/>
          <a:stretch>
            <a:fillRect/>
          </a:stretch>
        </p:blipFill>
        <p:spPr>
          <a:xfrm>
            <a:off x="2868930" y="1424178"/>
            <a:ext cx="251460" cy="251460"/>
          </a:xfrm>
          <a:prstGeom prst="rect">
            <a:avLst/>
          </a:prstGeom>
        </p:spPr>
      </p:pic>
      <p:sp>
        <p:nvSpPr>
          <p:cNvPr id="12" name="Tool use and grounding title"/>
          <p:cNvSpPr txBox="1"/>
          <p:nvPr/>
        </p:nvSpPr>
        <p:spPr>
          <a:xfrm>
            <a:off x="2743200" y="1874520"/>
            <a:ext cx="1600200" cy="502920"/>
          </a:xfrm>
          <a:prstGeom prst="rect">
            <a:avLst/>
          </a:prstGeom>
          <a:noFill/>
          <a:ln/>
        </p:spPr>
        <p:txBody>
          <a:bodyPr wrap="square" lIns="0" tIns="0" rIns="0" bIns="0" rtlCol="0" anchor="t"/>
          <a:lstStyle/>
          <a:p>
            <a:pPr indent="0" marL="0">
              <a:buNone/>
            </a:pPr>
            <a:r>
              <a:rPr lang="en-US" sz="1500" b="1" dirty="0">
                <a:solidFill>
                  <a:schemeClr val="tx2"/>
                </a:solidFill>
              </a:rPr>
              <a:t>Tool use and grounding</a:t>
            </a:r>
            <a:endParaRPr lang="en-US" sz="1500" dirty="0"/>
          </a:p>
        </p:txBody>
      </p:sp>
      <p:sp>
        <p:nvSpPr>
          <p:cNvPr id="13" name="Tool use and grounding text"/>
          <p:cNvSpPr txBox="1"/>
          <p:nvPr/>
        </p:nvSpPr>
        <p:spPr>
          <a:xfrm>
            <a:off x="2743200" y="2450592"/>
            <a:ext cx="1600200" cy="777240"/>
          </a:xfrm>
          <a:prstGeom prst="rect">
            <a:avLst/>
          </a:prstGeom>
          <a:noFill/>
          <a:ln/>
        </p:spPr>
        <p:txBody>
          <a:bodyPr wrap="square" lIns="0" tIns="0" rIns="0" bIns="0" rtlCol="0" anchor="t"/>
          <a:lstStyle/>
          <a:p>
            <a:pPr indent="0" marL="0">
              <a:buNone/>
            </a:pPr>
            <a:r>
              <a:rPr lang="en-US" sz="1200" dirty="0">
                <a:solidFill>
                  <a:schemeClr val="tx1"/>
                </a:solidFill>
              </a:rPr>
              <a:t>Toolformer and retrieval-augmented generation ground answers in retrieved text.</a:t>
            </a:r>
            <a:endParaRPr lang="en-US" sz="1200" dirty="0"/>
          </a:p>
        </p:txBody>
      </p:sp>
      <p:sp>
        <p:nvSpPr>
          <p:cNvPr id="14" name="Tool use and grounding references"/>
          <p:cNvSpPr txBox="1"/>
          <p:nvPr/>
        </p:nvSpPr>
        <p:spPr>
          <a:xfrm>
            <a:off x="2743200" y="3200400"/>
            <a:ext cx="1600200" cy="228600"/>
          </a:xfrm>
          <a:prstGeom prst="rect">
            <a:avLst/>
          </a:prstGeom>
          <a:noFill/>
          <a:ln/>
        </p:spPr>
        <p:txBody>
          <a:bodyPr wrap="square" lIns="0" tIns="0" rIns="0" bIns="0" rtlCol="0" anchor="ctr"/>
          <a:lstStyle/>
          <a:p>
            <a:pPr indent="0" marL="0">
              <a:buNone/>
            </a:pPr>
            <a:r>
              <a:rPr lang="en-US" sz="1100" b="1" dirty="0">
                <a:solidFill>
                  <a:schemeClr val="accent1"/>
                </a:solidFill>
              </a:rPr>
              <a:t>[3] [4]</a:t>
            </a:r>
            <a:endParaRPr lang="en-US" sz="1100" dirty="0"/>
          </a:p>
        </p:txBody>
      </p:sp>
      <p:sp>
        <p:nvSpPr>
          <p:cNvPr id="15" name="Multi-agent frameworks card"/>
          <p:cNvSpPr/>
          <p:nvPr/>
        </p:nvSpPr>
        <p:spPr>
          <a:xfrm>
            <a:off x="4663440" y="1143000"/>
            <a:ext cx="1920240" cy="2377440"/>
          </a:xfrm>
          <a:prstGeom prst="roundRect">
            <a:avLst>
              <a:gd name="adj" fmla="val 5714"/>
            </a:avLst>
          </a:prstGeom>
          <a:solidFill>
            <a:schemeClr val="bg1"/>
          </a:solidFill>
          <a:ln w="12700">
            <a:solidFill>
              <a:schemeClr val="bg1"/>
            </a:solidFill>
            <a:prstDash val="solid"/>
          </a:ln>
          <a:effectLst>
            <a:outerShdw sx="100000" sy="100000" kx="0" ky="0" algn="bl" rotWithShape="0" blurRad="114300" dist="25400" dir="5400000">
              <a:srgbClr val="142238">
                <a:alpha val="13000"/>
              </a:srgbClr>
            </a:outerShdw>
          </a:effectLst>
        </p:spPr>
      </p:sp>
      <p:sp>
        <p:nvSpPr>
          <p:cNvPr id="16" name="Multi-agent frameworks icon circle"/>
          <p:cNvSpPr/>
          <p:nvPr/>
        </p:nvSpPr>
        <p:spPr>
          <a:xfrm>
            <a:off x="4846320" y="1298448"/>
            <a:ext cx="502920" cy="502920"/>
          </a:xfrm>
          <a:prstGeom prst="ellipse">
            <a:avLst/>
          </a:prstGeom>
          <a:solidFill>
            <a:schemeClr val="accent1"/>
          </a:solidFill>
          <a:ln w="12700">
            <a:solidFill>
              <a:schemeClr val="accent1"/>
            </a:solidFill>
            <a:prstDash val="solid"/>
          </a:ln>
        </p:spPr>
      </p:sp>
      <p:pic>
        <p:nvPicPr>
          <p:cNvPr id="17" name="Multi-agent frameworks icon" descr="Multi-agent frameworks">    </p:cNvPr>
          <p:cNvPicPr>
            <a:picLocks noChangeAspect="1"/>
          </p:cNvPicPr>
          <p:nvPr/>
        </p:nvPicPr>
        <p:blipFill>
          <a:blip r:embed="rId3"/>
          <a:stretch>
            <a:fillRect/>
          </a:stretch>
        </p:blipFill>
        <p:spPr>
          <a:xfrm>
            <a:off x="4972050" y="1424178"/>
            <a:ext cx="251460" cy="251460"/>
          </a:xfrm>
          <a:prstGeom prst="rect">
            <a:avLst/>
          </a:prstGeom>
        </p:spPr>
      </p:pic>
      <p:sp>
        <p:nvSpPr>
          <p:cNvPr id="18" name="Multi-agent frameworks title"/>
          <p:cNvSpPr txBox="1"/>
          <p:nvPr/>
        </p:nvSpPr>
        <p:spPr>
          <a:xfrm>
            <a:off x="4846320" y="1874520"/>
            <a:ext cx="1600200" cy="502920"/>
          </a:xfrm>
          <a:prstGeom prst="rect">
            <a:avLst/>
          </a:prstGeom>
          <a:noFill/>
          <a:ln/>
        </p:spPr>
        <p:txBody>
          <a:bodyPr wrap="square" lIns="0" tIns="0" rIns="0" bIns="0" rtlCol="0" anchor="t"/>
          <a:lstStyle/>
          <a:p>
            <a:pPr indent="0" marL="0">
              <a:buNone/>
            </a:pPr>
            <a:r>
              <a:rPr lang="en-US" sz="1500" b="1" dirty="0">
                <a:solidFill>
                  <a:schemeClr val="tx2"/>
                </a:solidFill>
              </a:rPr>
              <a:t>Multi-agent frameworks</a:t>
            </a:r>
            <a:endParaRPr lang="en-US" sz="1500" dirty="0"/>
          </a:p>
        </p:txBody>
      </p:sp>
      <p:sp>
        <p:nvSpPr>
          <p:cNvPr id="19" name="Multi-agent frameworks text"/>
          <p:cNvSpPr txBox="1"/>
          <p:nvPr/>
        </p:nvSpPr>
        <p:spPr>
          <a:xfrm>
            <a:off x="4846320" y="2450592"/>
            <a:ext cx="1600200" cy="777240"/>
          </a:xfrm>
          <a:prstGeom prst="rect">
            <a:avLst/>
          </a:prstGeom>
          <a:noFill/>
          <a:ln/>
        </p:spPr>
        <p:txBody>
          <a:bodyPr wrap="square" lIns="0" tIns="0" rIns="0" bIns="0" rtlCol="0" anchor="t"/>
          <a:lstStyle/>
          <a:p>
            <a:pPr indent="0" marL="0">
              <a:buNone/>
            </a:pPr>
            <a:r>
              <a:rPr lang="en-US" sz="1200" dirty="0">
                <a:solidFill>
                  <a:schemeClr val="tx1"/>
                </a:solidFill>
              </a:rPr>
              <a:t>AutoGen, MetaGPT and CrewAI organise role-based agents; CrewAI fits our pipeline.</a:t>
            </a:r>
            <a:endParaRPr lang="en-US" sz="1200" dirty="0"/>
          </a:p>
        </p:txBody>
      </p:sp>
      <p:sp>
        <p:nvSpPr>
          <p:cNvPr id="20" name="Multi-agent frameworks references"/>
          <p:cNvSpPr txBox="1"/>
          <p:nvPr/>
        </p:nvSpPr>
        <p:spPr>
          <a:xfrm>
            <a:off x="4846320" y="3200400"/>
            <a:ext cx="1600200" cy="228600"/>
          </a:xfrm>
          <a:prstGeom prst="rect">
            <a:avLst/>
          </a:prstGeom>
          <a:noFill/>
          <a:ln/>
        </p:spPr>
        <p:txBody>
          <a:bodyPr wrap="square" lIns="0" tIns="0" rIns="0" bIns="0" rtlCol="0" anchor="ctr"/>
          <a:lstStyle/>
          <a:p>
            <a:pPr indent="0" marL="0">
              <a:buNone/>
            </a:pPr>
            <a:r>
              <a:rPr lang="en-US" sz="1100" b="1" dirty="0">
                <a:solidFill>
                  <a:schemeClr val="accent1"/>
                </a:solidFill>
              </a:rPr>
              <a:t>[5] [6] [7]</a:t>
            </a:r>
            <a:endParaRPr lang="en-US" sz="1100" dirty="0"/>
          </a:p>
        </p:txBody>
      </p:sp>
      <p:sp>
        <p:nvSpPr>
          <p:cNvPr id="21" name="Resume screening card"/>
          <p:cNvSpPr/>
          <p:nvPr/>
        </p:nvSpPr>
        <p:spPr>
          <a:xfrm>
            <a:off x="6766560" y="1143000"/>
            <a:ext cx="1920240" cy="2377440"/>
          </a:xfrm>
          <a:prstGeom prst="roundRect">
            <a:avLst>
              <a:gd name="adj" fmla="val 5714"/>
            </a:avLst>
          </a:prstGeom>
          <a:solidFill>
            <a:schemeClr val="bg1"/>
          </a:solidFill>
          <a:ln w="12700">
            <a:solidFill>
              <a:schemeClr val="bg1"/>
            </a:solidFill>
            <a:prstDash val="solid"/>
          </a:ln>
          <a:effectLst>
            <a:outerShdw sx="100000" sy="100000" kx="0" ky="0" algn="bl" rotWithShape="0" blurRad="114300" dist="25400" dir="5400000">
              <a:srgbClr val="142238">
                <a:alpha val="13000"/>
              </a:srgbClr>
            </a:outerShdw>
          </a:effectLst>
        </p:spPr>
      </p:sp>
      <p:sp>
        <p:nvSpPr>
          <p:cNvPr id="22" name="Resume screening icon circle"/>
          <p:cNvSpPr/>
          <p:nvPr/>
        </p:nvSpPr>
        <p:spPr>
          <a:xfrm>
            <a:off x="6949440" y="1298448"/>
            <a:ext cx="502920" cy="502920"/>
          </a:xfrm>
          <a:prstGeom prst="ellipse">
            <a:avLst/>
          </a:prstGeom>
          <a:solidFill>
            <a:schemeClr val="accent1"/>
          </a:solidFill>
          <a:ln w="12700">
            <a:solidFill>
              <a:schemeClr val="accent1"/>
            </a:solidFill>
            <a:prstDash val="solid"/>
          </a:ln>
        </p:spPr>
      </p:sp>
      <p:pic>
        <p:nvPicPr>
          <p:cNvPr id="23" name="Resume screening icon" descr="Resume screening">    </p:cNvPr>
          <p:cNvPicPr>
            <a:picLocks noChangeAspect="1"/>
          </p:cNvPicPr>
          <p:nvPr/>
        </p:nvPicPr>
        <p:blipFill>
          <a:blip r:embed="rId4"/>
          <a:stretch>
            <a:fillRect/>
          </a:stretch>
        </p:blipFill>
        <p:spPr>
          <a:xfrm>
            <a:off x="7075170" y="1424178"/>
            <a:ext cx="251460" cy="251460"/>
          </a:xfrm>
          <a:prstGeom prst="rect">
            <a:avLst/>
          </a:prstGeom>
        </p:spPr>
      </p:pic>
      <p:sp>
        <p:nvSpPr>
          <p:cNvPr id="24" name="Resume screening title"/>
          <p:cNvSpPr txBox="1"/>
          <p:nvPr/>
        </p:nvSpPr>
        <p:spPr>
          <a:xfrm>
            <a:off x="6949440" y="1874520"/>
            <a:ext cx="1600200" cy="502920"/>
          </a:xfrm>
          <a:prstGeom prst="rect">
            <a:avLst/>
          </a:prstGeom>
          <a:noFill/>
          <a:ln/>
        </p:spPr>
        <p:txBody>
          <a:bodyPr wrap="square" lIns="0" tIns="0" rIns="0" bIns="0" rtlCol="0" anchor="t"/>
          <a:lstStyle/>
          <a:p>
            <a:pPr indent="0" marL="0">
              <a:buNone/>
            </a:pPr>
            <a:r>
              <a:rPr lang="en-US" sz="1500" b="1" dirty="0">
                <a:solidFill>
                  <a:schemeClr val="tx2"/>
                </a:solidFill>
              </a:rPr>
              <a:t>Resume screening</a:t>
            </a:r>
            <a:endParaRPr lang="en-US" sz="1500" dirty="0"/>
          </a:p>
        </p:txBody>
      </p:sp>
      <p:sp>
        <p:nvSpPr>
          <p:cNvPr id="25" name="Resume screening text"/>
          <p:cNvSpPr txBox="1"/>
          <p:nvPr/>
        </p:nvSpPr>
        <p:spPr>
          <a:xfrm>
            <a:off x="6949440" y="2450592"/>
            <a:ext cx="1600200" cy="777240"/>
          </a:xfrm>
          <a:prstGeom prst="rect">
            <a:avLst/>
          </a:prstGeom>
          <a:noFill/>
          <a:ln/>
        </p:spPr>
        <p:txBody>
          <a:bodyPr wrap="square" lIns="0" tIns="0" rIns="0" bIns="0" rtlCol="0" anchor="t"/>
          <a:lstStyle/>
          <a:p>
            <a:pPr indent="0" marL="0">
              <a:buNone/>
            </a:pPr>
            <a:r>
              <a:rPr lang="en-US" sz="1200" dirty="0">
                <a:solidFill>
                  <a:schemeClr val="tx1"/>
                </a:solidFill>
              </a:rPr>
              <a:t>ATS vendors publish no rules and no public benchmark exists, so ours is a heuristic.</a:t>
            </a:r>
            <a:endParaRPr lang="en-US" sz="1200" dirty="0"/>
          </a:p>
        </p:txBody>
      </p:sp>
      <p:sp>
        <p:nvSpPr>
          <p:cNvPr id="26" name="Resume screening references"/>
          <p:cNvSpPr txBox="1"/>
          <p:nvPr/>
        </p:nvSpPr>
        <p:spPr>
          <a:xfrm>
            <a:off x="6949440" y="3200400"/>
            <a:ext cx="1600200" cy="228600"/>
          </a:xfrm>
          <a:prstGeom prst="rect">
            <a:avLst/>
          </a:prstGeom>
          <a:noFill/>
          <a:ln/>
        </p:spPr>
        <p:txBody>
          <a:bodyPr wrap="square" lIns="0" tIns="0" rIns="0" bIns="0" rtlCol="0" anchor="ctr"/>
          <a:lstStyle/>
          <a:p>
            <a:pPr indent="0" marL="0">
              <a:buNone/>
            </a:pPr>
            <a:r>
              <a:rPr lang="en-US" sz="1100" b="1" dirty="0">
                <a:solidFill>
                  <a:schemeClr val="accent1"/>
                </a:solidFill>
              </a:rPr>
              <a:t>No benchmark</a:t>
            </a:r>
            <a:endParaRPr lang="en-US" sz="1100" dirty="0"/>
          </a:p>
        </p:txBody>
      </p:sp>
      <p:sp>
        <p:nvSpPr>
          <p:cNvPr id="27" name="Research gap card"/>
          <p:cNvSpPr/>
          <p:nvPr/>
        </p:nvSpPr>
        <p:spPr>
          <a:xfrm>
            <a:off x="457200" y="3703320"/>
            <a:ext cx="8229600" cy="914400"/>
          </a:xfrm>
          <a:prstGeom prst="roundRect">
            <a:avLst>
              <a:gd name="adj" fmla="val 12000"/>
            </a:avLst>
          </a:prstGeom>
          <a:solidFill>
            <a:schemeClr val="tx2"/>
          </a:solidFill>
          <a:ln w="12700">
            <a:solidFill>
              <a:schemeClr val="tx2"/>
            </a:solidFill>
            <a:prstDash val="solid"/>
          </a:ln>
          <a:effectLst>
            <a:outerShdw sx="100000" sy="100000" kx="0" ky="0" algn="bl" rotWithShape="0" blurRad="114300" dist="25400" dir="5400000">
              <a:srgbClr val="142238">
                <a:alpha val="13000"/>
              </a:srgbClr>
            </a:outerShdw>
          </a:effectLst>
        </p:spPr>
      </p:sp>
      <p:sp>
        <p:nvSpPr>
          <p:cNvPr id="28" name="Research gap text"/>
          <p:cNvSpPr txBox="1"/>
          <p:nvPr/>
        </p:nvSpPr>
        <p:spPr>
          <a:xfrm>
            <a:off x="685800" y="3749040"/>
            <a:ext cx="7772400" cy="822960"/>
          </a:xfrm>
          <a:prstGeom prst="rect">
            <a:avLst/>
          </a:prstGeom>
          <a:noFill/>
          <a:ln/>
        </p:spPr>
        <p:txBody>
          <a:bodyPr wrap="square" lIns="0" tIns="0" rIns="0" bIns="0" rtlCol="0" anchor="ctr"/>
          <a:lstStyle/>
          <a:p>
            <a:pPr indent="0" marL="0">
              <a:buNone/>
            </a:pPr>
            <a:r>
              <a:rPr lang="en-US" sz="1400" b="1" dirty="0">
                <a:solidFill>
                  <a:schemeClr val="bg2"/>
                </a:solidFill>
              </a:rPr>
              <a:t>Research gap  </a:t>
            </a:r>
            <a:pPr indent="0" marL="0">
              <a:buNone/>
            </a:pPr>
            <a:r>
              <a:rPr lang="en-US" sz="1400" dirty="0">
                <a:solidFill>
                  <a:schemeClr val="bg1"/>
                </a:solidFill>
              </a:rPr>
              <a:t>Each work solves one component. This project integrates them for interview preparation: sourced, personalised, with a deterministic resume score and a visible audit trail.</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System Architecture</a:t>
            </a:r>
            <a:endParaRPr lang="en-US" sz="3000" dirty="0"/>
          </a:p>
        </p:txBody>
      </p:sp>
      <p:sp>
        <p:nvSpPr>
          <p:cNvPr id="3" name="Browser box"/>
          <p:cNvSpPr/>
          <p:nvPr/>
        </p:nvSpPr>
        <p:spPr>
          <a:xfrm>
            <a:off x="457200" y="1143000"/>
            <a:ext cx="1645920" cy="1188720"/>
          </a:xfrm>
          <a:prstGeom prst="roundRect">
            <a:avLst>
              <a:gd name="adj" fmla="val 9231"/>
            </a:avLst>
          </a:prstGeom>
          <a:solidFill>
            <a:schemeClr val="tx2"/>
          </a:solidFill>
          <a:ln w="12700">
            <a:solidFill>
              <a:schemeClr val="tx2"/>
            </a:solidFill>
            <a:prstDash val="solid"/>
          </a:ln>
          <a:effectLst>
            <a:outerShdw sx="100000" sy="100000" kx="0" ky="0" algn="bl" rotWithShape="0" blurRad="114300" dist="25400" dir="5400000">
              <a:srgbClr val="142238">
                <a:alpha val="13000"/>
              </a:srgbClr>
            </a:outerShdw>
          </a:effectLst>
        </p:spPr>
      </p:sp>
      <p:sp>
        <p:nvSpPr>
          <p:cNvPr id="4" name="Browser icon circle"/>
          <p:cNvSpPr/>
          <p:nvPr/>
        </p:nvSpPr>
        <p:spPr>
          <a:xfrm>
            <a:off x="594360" y="1298448"/>
            <a:ext cx="384048" cy="384048"/>
          </a:xfrm>
          <a:prstGeom prst="ellipse">
            <a:avLst/>
          </a:prstGeom>
          <a:solidFill>
            <a:schemeClr val="accent1"/>
          </a:solidFill>
          <a:ln w="12700">
            <a:solidFill>
              <a:schemeClr val="accent1"/>
            </a:solidFill>
            <a:prstDash val="solid"/>
          </a:ln>
        </p:spPr>
      </p:sp>
      <p:pic>
        <p:nvPicPr>
          <p:cNvPr id="5" name="Browser icon" descr="Browser">    </p:cNvPr>
          <p:cNvPicPr>
            <a:picLocks noChangeAspect="1"/>
          </p:cNvPicPr>
          <p:nvPr/>
        </p:nvPicPr>
        <p:blipFill>
          <a:blip r:embed="rId1"/>
          <a:stretch>
            <a:fillRect/>
          </a:stretch>
        </p:blipFill>
        <p:spPr>
          <a:xfrm>
            <a:off x="690372" y="1394460"/>
            <a:ext cx="192024" cy="192024"/>
          </a:xfrm>
          <a:prstGeom prst="rect">
            <a:avLst/>
          </a:prstGeom>
        </p:spPr>
      </p:pic>
      <p:sp>
        <p:nvSpPr>
          <p:cNvPr id="6" name="Browser title"/>
          <p:cNvSpPr txBox="1"/>
          <p:nvPr/>
        </p:nvSpPr>
        <p:spPr>
          <a:xfrm>
            <a:off x="1051560" y="1271016"/>
            <a:ext cx="1005840" cy="438912"/>
          </a:xfrm>
          <a:prstGeom prst="rect">
            <a:avLst/>
          </a:prstGeom>
          <a:noFill/>
          <a:ln/>
        </p:spPr>
        <p:txBody>
          <a:bodyPr wrap="square" lIns="0" tIns="0" rIns="0" bIns="0" rtlCol="0" anchor="ctr"/>
          <a:lstStyle/>
          <a:p>
            <a:pPr indent="0" marL="0">
              <a:buNone/>
            </a:pPr>
            <a:r>
              <a:rPr lang="en-US" sz="1300" b="1" dirty="0">
                <a:solidFill>
                  <a:schemeClr val="bg1"/>
                </a:solidFill>
              </a:rPr>
              <a:t>Browser</a:t>
            </a:r>
            <a:endParaRPr lang="en-US" sz="1300" dirty="0"/>
          </a:p>
        </p:txBody>
      </p:sp>
      <p:sp>
        <p:nvSpPr>
          <p:cNvPr id="7" name="Browser subtitle"/>
          <p:cNvSpPr txBox="1"/>
          <p:nvPr/>
        </p:nvSpPr>
        <p:spPr>
          <a:xfrm>
            <a:off x="594360" y="1801368"/>
            <a:ext cx="1371600" cy="457200"/>
          </a:xfrm>
          <a:prstGeom prst="rect">
            <a:avLst/>
          </a:prstGeom>
          <a:noFill/>
          <a:ln/>
        </p:spPr>
        <p:txBody>
          <a:bodyPr wrap="square" lIns="0" tIns="0" rIns="0" bIns="0" rtlCol="0" anchor="t"/>
          <a:lstStyle/>
          <a:p>
            <a:pPr indent="0" marL="0">
              <a:buNone/>
            </a:pPr>
            <a:r>
              <a:rPr lang="en-US" sz="1200" dirty="0">
                <a:solidFill>
                  <a:schemeClr val="bg2"/>
                </a:solidFill>
              </a:rPr>
              <a:t>Dashboard, prep, ATS, history</a:t>
            </a:r>
            <a:endParaRPr lang="en-US" sz="1200" dirty="0"/>
          </a:p>
        </p:txBody>
      </p:sp>
      <p:sp>
        <p:nvSpPr>
          <p:cNvPr id="8" name="API server box"/>
          <p:cNvSpPr/>
          <p:nvPr/>
        </p:nvSpPr>
        <p:spPr>
          <a:xfrm>
            <a:off x="2651760" y="1143000"/>
            <a:ext cx="1645920" cy="1188720"/>
          </a:xfrm>
          <a:prstGeom prst="roundRect">
            <a:avLst>
              <a:gd name="adj" fmla="val 9231"/>
            </a:avLst>
          </a:prstGeom>
          <a:solidFill>
            <a:schemeClr val="tx2"/>
          </a:solidFill>
          <a:ln w="12700">
            <a:solidFill>
              <a:schemeClr val="tx2"/>
            </a:solidFill>
            <a:prstDash val="solid"/>
          </a:ln>
          <a:effectLst>
            <a:outerShdw sx="100000" sy="100000" kx="0" ky="0" algn="bl" rotWithShape="0" blurRad="114300" dist="25400" dir="5400000">
              <a:srgbClr val="142238">
                <a:alpha val="13000"/>
              </a:srgbClr>
            </a:outerShdw>
          </a:effectLst>
        </p:spPr>
      </p:sp>
      <p:sp>
        <p:nvSpPr>
          <p:cNvPr id="9" name="API server icon circle"/>
          <p:cNvSpPr/>
          <p:nvPr/>
        </p:nvSpPr>
        <p:spPr>
          <a:xfrm>
            <a:off x="2788920" y="1298448"/>
            <a:ext cx="384048" cy="384048"/>
          </a:xfrm>
          <a:prstGeom prst="ellipse">
            <a:avLst/>
          </a:prstGeom>
          <a:solidFill>
            <a:schemeClr val="accent1"/>
          </a:solidFill>
          <a:ln w="12700">
            <a:solidFill>
              <a:schemeClr val="accent1"/>
            </a:solidFill>
            <a:prstDash val="solid"/>
          </a:ln>
        </p:spPr>
      </p:sp>
      <p:pic>
        <p:nvPicPr>
          <p:cNvPr id="10" name="API server icon" descr="API server">    </p:cNvPr>
          <p:cNvPicPr>
            <a:picLocks noChangeAspect="1"/>
          </p:cNvPicPr>
          <p:nvPr/>
        </p:nvPicPr>
        <p:blipFill>
          <a:blip r:embed="rId2"/>
          <a:stretch>
            <a:fillRect/>
          </a:stretch>
        </p:blipFill>
        <p:spPr>
          <a:xfrm>
            <a:off x="2884932" y="1394460"/>
            <a:ext cx="192024" cy="192024"/>
          </a:xfrm>
          <a:prstGeom prst="rect">
            <a:avLst/>
          </a:prstGeom>
        </p:spPr>
      </p:pic>
      <p:sp>
        <p:nvSpPr>
          <p:cNvPr id="11" name="API server title"/>
          <p:cNvSpPr txBox="1"/>
          <p:nvPr/>
        </p:nvSpPr>
        <p:spPr>
          <a:xfrm>
            <a:off x="3246120" y="1271016"/>
            <a:ext cx="1005840" cy="438912"/>
          </a:xfrm>
          <a:prstGeom prst="rect">
            <a:avLst/>
          </a:prstGeom>
          <a:noFill/>
          <a:ln/>
        </p:spPr>
        <p:txBody>
          <a:bodyPr wrap="square" lIns="0" tIns="0" rIns="0" bIns="0" rtlCol="0" anchor="ctr"/>
          <a:lstStyle/>
          <a:p>
            <a:pPr indent="0" marL="0">
              <a:buNone/>
            </a:pPr>
            <a:r>
              <a:rPr lang="en-US" sz="1300" b="1" dirty="0">
                <a:solidFill>
                  <a:schemeClr val="bg1"/>
                </a:solidFill>
              </a:rPr>
              <a:t>API server</a:t>
            </a:r>
            <a:endParaRPr lang="en-US" sz="1300" dirty="0"/>
          </a:p>
        </p:txBody>
      </p:sp>
      <p:sp>
        <p:nvSpPr>
          <p:cNvPr id="12" name="API server subtitle"/>
          <p:cNvSpPr txBox="1"/>
          <p:nvPr/>
        </p:nvSpPr>
        <p:spPr>
          <a:xfrm>
            <a:off x="2788920" y="1801368"/>
            <a:ext cx="1371600" cy="457200"/>
          </a:xfrm>
          <a:prstGeom prst="rect">
            <a:avLst/>
          </a:prstGeom>
          <a:noFill/>
          <a:ln/>
        </p:spPr>
        <p:txBody>
          <a:bodyPr wrap="square" lIns="0" tIns="0" rIns="0" bIns="0" rtlCol="0" anchor="t"/>
          <a:lstStyle/>
          <a:p>
            <a:pPr indent="0" marL="0">
              <a:buNone/>
            </a:pPr>
            <a:r>
              <a:rPr lang="en-US" sz="1200" dirty="0">
                <a:solidFill>
                  <a:schemeClr val="bg2"/>
                </a:solidFill>
              </a:rPr>
              <a:t>FastAPI: runs, history, ATS engine</a:t>
            </a:r>
            <a:endParaRPr lang="en-US" sz="1200" dirty="0"/>
          </a:p>
        </p:txBody>
      </p:sp>
      <p:sp>
        <p:nvSpPr>
          <p:cNvPr id="13" name="CrewAI crew box"/>
          <p:cNvSpPr/>
          <p:nvPr/>
        </p:nvSpPr>
        <p:spPr>
          <a:xfrm>
            <a:off x="4846320" y="1143000"/>
            <a:ext cx="1645920" cy="1188720"/>
          </a:xfrm>
          <a:prstGeom prst="roundRect">
            <a:avLst>
              <a:gd name="adj" fmla="val 9231"/>
            </a:avLst>
          </a:prstGeom>
          <a:solidFill>
            <a:schemeClr val="tx2"/>
          </a:solidFill>
          <a:ln w="12700">
            <a:solidFill>
              <a:schemeClr val="tx2"/>
            </a:solidFill>
            <a:prstDash val="solid"/>
          </a:ln>
          <a:effectLst>
            <a:outerShdw sx="100000" sy="100000" kx="0" ky="0" algn="bl" rotWithShape="0" blurRad="114300" dist="25400" dir="5400000">
              <a:srgbClr val="142238">
                <a:alpha val="13000"/>
              </a:srgbClr>
            </a:outerShdw>
          </a:effectLst>
        </p:spPr>
      </p:sp>
      <p:sp>
        <p:nvSpPr>
          <p:cNvPr id="14" name="CrewAI crew icon circle"/>
          <p:cNvSpPr/>
          <p:nvPr/>
        </p:nvSpPr>
        <p:spPr>
          <a:xfrm>
            <a:off x="4983480" y="1298448"/>
            <a:ext cx="384048" cy="384048"/>
          </a:xfrm>
          <a:prstGeom prst="ellipse">
            <a:avLst/>
          </a:prstGeom>
          <a:solidFill>
            <a:schemeClr val="accent1"/>
          </a:solidFill>
          <a:ln w="12700">
            <a:solidFill>
              <a:schemeClr val="accent1"/>
            </a:solidFill>
            <a:prstDash val="solid"/>
          </a:ln>
        </p:spPr>
      </p:sp>
      <p:pic>
        <p:nvPicPr>
          <p:cNvPr id="15" name="CrewAI crew icon" descr="CrewAI crew">    </p:cNvPr>
          <p:cNvPicPr>
            <a:picLocks noChangeAspect="1"/>
          </p:cNvPicPr>
          <p:nvPr/>
        </p:nvPicPr>
        <p:blipFill>
          <a:blip r:embed="rId3"/>
          <a:stretch>
            <a:fillRect/>
          </a:stretch>
        </p:blipFill>
        <p:spPr>
          <a:xfrm>
            <a:off x="5079492" y="1394460"/>
            <a:ext cx="192024" cy="192024"/>
          </a:xfrm>
          <a:prstGeom prst="rect">
            <a:avLst/>
          </a:prstGeom>
        </p:spPr>
      </p:pic>
      <p:sp>
        <p:nvSpPr>
          <p:cNvPr id="16" name="CrewAI crew title"/>
          <p:cNvSpPr txBox="1"/>
          <p:nvPr/>
        </p:nvSpPr>
        <p:spPr>
          <a:xfrm>
            <a:off x="5440680" y="1271016"/>
            <a:ext cx="1005840" cy="438912"/>
          </a:xfrm>
          <a:prstGeom prst="rect">
            <a:avLst/>
          </a:prstGeom>
          <a:noFill/>
          <a:ln/>
        </p:spPr>
        <p:txBody>
          <a:bodyPr wrap="square" lIns="0" tIns="0" rIns="0" bIns="0" rtlCol="0" anchor="ctr"/>
          <a:lstStyle/>
          <a:p>
            <a:pPr indent="0" marL="0">
              <a:buNone/>
            </a:pPr>
            <a:r>
              <a:rPr lang="en-US" sz="1300" b="1" dirty="0">
                <a:solidFill>
                  <a:schemeClr val="bg1"/>
                </a:solidFill>
              </a:rPr>
              <a:t>CrewAI crew</a:t>
            </a:r>
            <a:endParaRPr lang="en-US" sz="1300" dirty="0"/>
          </a:p>
        </p:txBody>
      </p:sp>
      <p:sp>
        <p:nvSpPr>
          <p:cNvPr id="17" name="CrewAI crew subtitle"/>
          <p:cNvSpPr txBox="1"/>
          <p:nvPr/>
        </p:nvSpPr>
        <p:spPr>
          <a:xfrm>
            <a:off x="4983480" y="1801368"/>
            <a:ext cx="1371600" cy="457200"/>
          </a:xfrm>
          <a:prstGeom prst="rect">
            <a:avLst/>
          </a:prstGeom>
          <a:noFill/>
          <a:ln/>
        </p:spPr>
        <p:txBody>
          <a:bodyPr wrap="square" lIns="0" tIns="0" rIns="0" bIns="0" rtlCol="0" anchor="t"/>
          <a:lstStyle/>
          <a:p>
            <a:pPr indent="0" marL="0">
              <a:buNone/>
            </a:pPr>
            <a:r>
              <a:rPr lang="en-US" sz="1200" dirty="0">
                <a:solidFill>
                  <a:schemeClr val="bg2"/>
                </a:solidFill>
              </a:rPr>
              <a:t>5 agents, sequential</a:t>
            </a:r>
            <a:endParaRPr lang="en-US" sz="1200" dirty="0"/>
          </a:p>
        </p:txBody>
      </p:sp>
      <p:sp>
        <p:nvSpPr>
          <p:cNvPr id="18" name="LLM provider box"/>
          <p:cNvSpPr/>
          <p:nvPr/>
        </p:nvSpPr>
        <p:spPr>
          <a:xfrm>
            <a:off x="7040880" y="1143000"/>
            <a:ext cx="1645920" cy="1188720"/>
          </a:xfrm>
          <a:prstGeom prst="roundRect">
            <a:avLst>
              <a:gd name="adj" fmla="val 9231"/>
            </a:avLst>
          </a:prstGeom>
          <a:solidFill>
            <a:schemeClr val="tx2"/>
          </a:solidFill>
          <a:ln w="12700">
            <a:solidFill>
              <a:schemeClr val="tx2"/>
            </a:solidFill>
            <a:prstDash val="solid"/>
          </a:ln>
          <a:effectLst>
            <a:outerShdw sx="100000" sy="100000" kx="0" ky="0" algn="bl" rotWithShape="0" blurRad="114300" dist="25400" dir="5400000">
              <a:srgbClr val="142238">
                <a:alpha val="13000"/>
              </a:srgbClr>
            </a:outerShdw>
          </a:effectLst>
        </p:spPr>
      </p:sp>
      <p:sp>
        <p:nvSpPr>
          <p:cNvPr id="19" name="LLM provider icon circle"/>
          <p:cNvSpPr/>
          <p:nvPr/>
        </p:nvSpPr>
        <p:spPr>
          <a:xfrm>
            <a:off x="7178040" y="1298448"/>
            <a:ext cx="384048" cy="384048"/>
          </a:xfrm>
          <a:prstGeom prst="ellipse">
            <a:avLst/>
          </a:prstGeom>
          <a:solidFill>
            <a:schemeClr val="accent1"/>
          </a:solidFill>
          <a:ln w="12700">
            <a:solidFill>
              <a:schemeClr val="accent1"/>
            </a:solidFill>
            <a:prstDash val="solid"/>
          </a:ln>
        </p:spPr>
      </p:sp>
      <p:pic>
        <p:nvPicPr>
          <p:cNvPr id="20" name="LLM provider icon" descr="LLM provider">    </p:cNvPr>
          <p:cNvPicPr>
            <a:picLocks noChangeAspect="1"/>
          </p:cNvPicPr>
          <p:nvPr/>
        </p:nvPicPr>
        <p:blipFill>
          <a:blip r:embed="rId4"/>
          <a:stretch>
            <a:fillRect/>
          </a:stretch>
        </p:blipFill>
        <p:spPr>
          <a:xfrm>
            <a:off x="7274052" y="1394460"/>
            <a:ext cx="192024" cy="192024"/>
          </a:xfrm>
          <a:prstGeom prst="rect">
            <a:avLst/>
          </a:prstGeom>
        </p:spPr>
      </p:pic>
      <p:sp>
        <p:nvSpPr>
          <p:cNvPr id="21" name="LLM provider title"/>
          <p:cNvSpPr txBox="1"/>
          <p:nvPr/>
        </p:nvSpPr>
        <p:spPr>
          <a:xfrm>
            <a:off x="7635240" y="1271016"/>
            <a:ext cx="1005840" cy="438912"/>
          </a:xfrm>
          <a:prstGeom prst="rect">
            <a:avLst/>
          </a:prstGeom>
          <a:noFill/>
          <a:ln/>
        </p:spPr>
        <p:txBody>
          <a:bodyPr wrap="square" lIns="0" tIns="0" rIns="0" bIns="0" rtlCol="0" anchor="ctr"/>
          <a:lstStyle/>
          <a:p>
            <a:pPr indent="0" marL="0">
              <a:buNone/>
            </a:pPr>
            <a:r>
              <a:rPr lang="en-US" sz="1300" b="1" dirty="0">
                <a:solidFill>
                  <a:schemeClr val="bg1"/>
                </a:solidFill>
              </a:rPr>
              <a:t>LLM provider</a:t>
            </a:r>
            <a:endParaRPr lang="en-US" sz="1300" dirty="0"/>
          </a:p>
        </p:txBody>
      </p:sp>
      <p:sp>
        <p:nvSpPr>
          <p:cNvPr id="22" name="LLM provider subtitle"/>
          <p:cNvSpPr txBox="1"/>
          <p:nvPr/>
        </p:nvSpPr>
        <p:spPr>
          <a:xfrm>
            <a:off x="7178040" y="1801368"/>
            <a:ext cx="1371600" cy="457200"/>
          </a:xfrm>
          <a:prstGeom prst="rect">
            <a:avLst/>
          </a:prstGeom>
          <a:noFill/>
          <a:ln/>
        </p:spPr>
        <p:txBody>
          <a:bodyPr wrap="square" lIns="0" tIns="0" rIns="0" bIns="0" rtlCol="0" anchor="t"/>
          <a:lstStyle/>
          <a:p>
            <a:pPr indent="0" marL="0">
              <a:buNone/>
            </a:pPr>
            <a:r>
              <a:rPr lang="en-US" sz="1200" dirty="0">
                <a:solidFill>
                  <a:schemeClr val="bg2"/>
                </a:solidFill>
              </a:rPr>
              <a:t>Groq, Claude or Ollama</a:t>
            </a:r>
            <a:endParaRPr lang="en-US" sz="1200" dirty="0"/>
          </a:p>
        </p:txBody>
      </p:sp>
      <p:sp>
        <p:nvSpPr>
          <p:cNvPr id="23" name="Link 1"/>
          <p:cNvSpPr/>
          <p:nvPr/>
        </p:nvSpPr>
        <p:spPr>
          <a:xfrm>
            <a:off x="2157984" y="1856232"/>
            <a:ext cx="438912" cy="0"/>
          </a:xfrm>
          <a:prstGeom prst="line">
            <a:avLst/>
          </a:prstGeom>
          <a:noFill/>
          <a:ln w="22225">
            <a:solidFill>
              <a:schemeClr val="accent1"/>
            </a:solidFill>
            <a:prstDash val="solid"/>
            <a:headEnd type="triangle"/>
            <a:tailEnd type="triangle"/>
          </a:ln>
        </p:spPr>
      </p:sp>
      <p:sp>
        <p:nvSpPr>
          <p:cNvPr id="24" name="Link 1 label"/>
          <p:cNvSpPr txBox="1"/>
          <p:nvPr/>
        </p:nvSpPr>
        <p:spPr>
          <a:xfrm>
            <a:off x="2103120" y="1325880"/>
            <a:ext cx="548640" cy="457200"/>
          </a:xfrm>
          <a:prstGeom prst="rect">
            <a:avLst/>
          </a:prstGeom>
          <a:noFill/>
          <a:ln/>
        </p:spPr>
        <p:txBody>
          <a:bodyPr wrap="square" lIns="0" tIns="0" rIns="0" bIns="0" rtlCol="0" anchor="b"/>
          <a:lstStyle/>
          <a:p>
            <a:pPr algn="ctr" indent="0" marL="0">
              <a:buNone/>
            </a:pPr>
            <a:r>
              <a:rPr lang="en-US" sz="1000" b="1" dirty="0">
                <a:solidFill>
                  <a:schemeClr val="accent1"/>
                </a:solidFill>
              </a:rPr>
              <a:t>REST +</a:t>
            </a:r>
            <a:endParaRPr lang="en-US" sz="1000" dirty="0"/>
          </a:p>
          <a:p>
            <a:pPr algn="ctr" indent="0" marL="0">
              <a:buNone/>
            </a:pPr>
            <a:r>
              <a:rPr lang="en-US" sz="1000" b="1" dirty="0">
                <a:solidFill>
                  <a:schemeClr val="accent1"/>
                </a:solidFill>
              </a:rPr>
              <a:t>SSE</a:t>
            </a:r>
            <a:endParaRPr lang="en-US" sz="1000" dirty="0"/>
          </a:p>
        </p:txBody>
      </p:sp>
      <p:sp>
        <p:nvSpPr>
          <p:cNvPr id="25" name="Link 2"/>
          <p:cNvSpPr/>
          <p:nvPr/>
        </p:nvSpPr>
        <p:spPr>
          <a:xfrm>
            <a:off x="4352544" y="1856232"/>
            <a:ext cx="438912" cy="0"/>
          </a:xfrm>
          <a:prstGeom prst="line">
            <a:avLst/>
          </a:prstGeom>
          <a:noFill/>
          <a:ln w="22225">
            <a:solidFill>
              <a:schemeClr val="accent1"/>
            </a:solidFill>
            <a:prstDash val="solid"/>
            <a:headEnd type="triangle"/>
            <a:tailEnd type="triangle"/>
          </a:ln>
        </p:spPr>
      </p:sp>
      <p:sp>
        <p:nvSpPr>
          <p:cNvPr id="26" name="Link 2 label"/>
          <p:cNvSpPr txBox="1"/>
          <p:nvPr/>
        </p:nvSpPr>
        <p:spPr>
          <a:xfrm>
            <a:off x="4297680" y="1325880"/>
            <a:ext cx="548640" cy="457200"/>
          </a:xfrm>
          <a:prstGeom prst="rect">
            <a:avLst/>
          </a:prstGeom>
          <a:noFill/>
          <a:ln/>
        </p:spPr>
        <p:txBody>
          <a:bodyPr wrap="square" lIns="0" tIns="0" rIns="0" bIns="0" rtlCol="0" anchor="b"/>
          <a:lstStyle/>
          <a:p>
            <a:pPr algn="ctr" indent="0" marL="0">
              <a:buNone/>
            </a:pPr>
            <a:r>
              <a:rPr lang="en-US" sz="1000" b="1" dirty="0">
                <a:solidFill>
                  <a:schemeClr val="accent1"/>
                </a:solidFill>
              </a:rPr>
              <a:t>kickoff()</a:t>
            </a:r>
            <a:endParaRPr lang="en-US" sz="1000" dirty="0"/>
          </a:p>
          <a:p>
            <a:pPr algn="ctr" indent="0" marL="0">
              <a:buNone/>
            </a:pPr>
            <a:r>
              <a:rPr lang="en-US" sz="1000" b="1" dirty="0">
                <a:solidFill>
                  <a:schemeClr val="accent1"/>
                </a:solidFill>
              </a:rPr>
              <a:t>events</a:t>
            </a:r>
            <a:endParaRPr lang="en-US" sz="1000" dirty="0"/>
          </a:p>
        </p:txBody>
      </p:sp>
      <p:sp>
        <p:nvSpPr>
          <p:cNvPr id="27" name="Link 3"/>
          <p:cNvSpPr/>
          <p:nvPr/>
        </p:nvSpPr>
        <p:spPr>
          <a:xfrm>
            <a:off x="6547104" y="1856232"/>
            <a:ext cx="438912" cy="0"/>
          </a:xfrm>
          <a:prstGeom prst="line">
            <a:avLst/>
          </a:prstGeom>
          <a:noFill/>
          <a:ln w="22225">
            <a:solidFill>
              <a:schemeClr val="accent1"/>
            </a:solidFill>
            <a:prstDash val="solid"/>
            <a:headEnd type="triangle"/>
            <a:tailEnd type="triangle"/>
          </a:ln>
        </p:spPr>
      </p:sp>
      <p:sp>
        <p:nvSpPr>
          <p:cNvPr id="28" name="Link 3 label"/>
          <p:cNvSpPr txBox="1"/>
          <p:nvPr/>
        </p:nvSpPr>
        <p:spPr>
          <a:xfrm>
            <a:off x="6492240" y="1325880"/>
            <a:ext cx="548640" cy="457200"/>
          </a:xfrm>
          <a:prstGeom prst="rect">
            <a:avLst/>
          </a:prstGeom>
          <a:noFill/>
          <a:ln/>
        </p:spPr>
        <p:txBody>
          <a:bodyPr wrap="square" lIns="0" tIns="0" rIns="0" bIns="0" rtlCol="0" anchor="b"/>
          <a:lstStyle/>
          <a:p>
            <a:pPr algn="ctr" indent="0" marL="0">
              <a:buNone/>
            </a:pPr>
            <a:r>
              <a:rPr lang="en-US" sz="1000" b="1" dirty="0">
                <a:solidFill>
                  <a:schemeClr val="accent1"/>
                </a:solidFill>
              </a:rPr>
              <a:t>chat</a:t>
            </a:r>
            <a:endParaRPr lang="en-US" sz="1000" dirty="0"/>
          </a:p>
          <a:p>
            <a:pPr algn="ctr" indent="0" marL="0">
              <a:buNone/>
            </a:pPr>
            <a:r>
              <a:rPr lang="en-US" sz="1000" b="1" dirty="0">
                <a:solidFill>
                  <a:schemeClr val="accent1"/>
                </a:solidFill>
              </a:rPr>
              <a:t>API</a:t>
            </a:r>
            <a:endParaRPr lang="en-US" sz="1000" dirty="0"/>
          </a:p>
        </p:txBody>
      </p:sp>
      <p:sp>
        <p:nvSpPr>
          <p:cNvPr id="29" name="Run history link"/>
          <p:cNvSpPr/>
          <p:nvPr/>
        </p:nvSpPr>
        <p:spPr>
          <a:xfrm>
            <a:off x="3474720" y="2386584"/>
            <a:ext cx="0" cy="384048"/>
          </a:xfrm>
          <a:prstGeom prst="line">
            <a:avLst/>
          </a:prstGeom>
          <a:noFill/>
          <a:ln w="22225">
            <a:solidFill>
              <a:schemeClr val="accent1"/>
            </a:solidFill>
            <a:prstDash val="solid"/>
            <a:headEnd type="triangle"/>
            <a:tailEnd type="triangle"/>
          </a:ln>
        </p:spPr>
      </p:sp>
      <p:sp>
        <p:nvSpPr>
          <p:cNvPr id="30" name="Run history box"/>
          <p:cNvSpPr/>
          <p:nvPr/>
        </p:nvSpPr>
        <p:spPr>
          <a:xfrm>
            <a:off x="2651760" y="2834640"/>
            <a:ext cx="1645920" cy="822960"/>
          </a:xfrm>
          <a:prstGeom prst="roundRect">
            <a:avLst>
              <a:gd name="adj" fmla="val 13333"/>
            </a:avLst>
          </a:prstGeom>
          <a:solidFill>
            <a:schemeClr val="bg1"/>
          </a:solidFill>
          <a:ln w="12700">
            <a:solidFill>
              <a:schemeClr val="bg1"/>
            </a:solidFill>
            <a:prstDash val="solid"/>
          </a:ln>
          <a:effectLst>
            <a:outerShdw sx="100000" sy="100000" kx="0" ky="0" algn="bl" rotWithShape="0" blurRad="114300" dist="25400" dir="5400000">
              <a:srgbClr val="142238">
                <a:alpha val="13000"/>
              </a:srgbClr>
            </a:outerShdw>
          </a:effectLst>
        </p:spPr>
      </p:sp>
      <p:sp>
        <p:nvSpPr>
          <p:cNvPr id="31" name="Run history icon circle"/>
          <p:cNvSpPr/>
          <p:nvPr/>
        </p:nvSpPr>
        <p:spPr>
          <a:xfrm>
            <a:off x="2788920" y="2971800"/>
            <a:ext cx="384048" cy="384048"/>
          </a:xfrm>
          <a:prstGeom prst="ellipse">
            <a:avLst/>
          </a:prstGeom>
          <a:solidFill>
            <a:schemeClr val="accent1"/>
          </a:solidFill>
          <a:ln w="12700">
            <a:solidFill>
              <a:schemeClr val="accent1"/>
            </a:solidFill>
            <a:prstDash val="solid"/>
          </a:ln>
        </p:spPr>
      </p:sp>
      <p:pic>
        <p:nvPicPr>
          <p:cNvPr id="32" name="Run history icon" descr="Run history">    </p:cNvPr>
          <p:cNvPicPr>
            <a:picLocks noChangeAspect="1"/>
          </p:cNvPicPr>
          <p:nvPr/>
        </p:nvPicPr>
        <p:blipFill>
          <a:blip r:embed="rId5"/>
          <a:stretch>
            <a:fillRect/>
          </a:stretch>
        </p:blipFill>
        <p:spPr>
          <a:xfrm>
            <a:off x="2884932" y="3067812"/>
            <a:ext cx="192024" cy="192024"/>
          </a:xfrm>
          <a:prstGeom prst="rect">
            <a:avLst/>
          </a:prstGeom>
        </p:spPr>
      </p:pic>
      <p:sp>
        <p:nvSpPr>
          <p:cNvPr id="33" name="Run history text"/>
          <p:cNvSpPr txBox="1"/>
          <p:nvPr/>
        </p:nvSpPr>
        <p:spPr>
          <a:xfrm>
            <a:off x="3246120" y="2834640"/>
            <a:ext cx="1005840" cy="822960"/>
          </a:xfrm>
          <a:prstGeom prst="rect">
            <a:avLst/>
          </a:prstGeom>
          <a:noFill/>
          <a:ln/>
        </p:spPr>
        <p:txBody>
          <a:bodyPr wrap="square" lIns="0" tIns="0" rIns="0" bIns="0" rtlCol="0" anchor="ctr"/>
          <a:lstStyle/>
          <a:p>
            <a:pPr indent="0" marL="0">
              <a:buNone/>
            </a:pPr>
            <a:r>
              <a:rPr lang="en-US" sz="1400" b="1" dirty="0">
                <a:solidFill>
                  <a:schemeClr val="tx2"/>
                </a:solidFill>
              </a:rPr>
              <a:t>Run history</a:t>
            </a:r>
            <a:endParaRPr lang="en-US" sz="1400" dirty="0"/>
          </a:p>
          <a:p>
            <a:pPr indent="0" marL="0">
              <a:buNone/>
            </a:pPr>
            <a:r>
              <a:rPr lang="en-US" sz="1100" dirty="0">
                <a:solidFill>
                  <a:schemeClr val="accent6"/>
                </a:solidFill>
              </a:rPr>
              <a:t>JSON files, no resumes</a:t>
            </a:r>
            <a:endParaRPr lang="en-US" sz="1400" dirty="0"/>
          </a:p>
        </p:txBody>
      </p:sp>
      <p:sp>
        <p:nvSpPr>
          <p:cNvPr id="34" name="Web tools link"/>
          <p:cNvSpPr/>
          <p:nvPr/>
        </p:nvSpPr>
        <p:spPr>
          <a:xfrm>
            <a:off x="5669280" y="2386584"/>
            <a:ext cx="0" cy="384048"/>
          </a:xfrm>
          <a:prstGeom prst="line">
            <a:avLst/>
          </a:prstGeom>
          <a:noFill/>
          <a:ln w="22225">
            <a:solidFill>
              <a:schemeClr val="accent1"/>
            </a:solidFill>
            <a:prstDash val="solid"/>
            <a:headEnd type="triangle"/>
            <a:tailEnd type="triangle"/>
          </a:ln>
        </p:spPr>
      </p:sp>
      <p:sp>
        <p:nvSpPr>
          <p:cNvPr id="35" name="Web tools box"/>
          <p:cNvSpPr/>
          <p:nvPr/>
        </p:nvSpPr>
        <p:spPr>
          <a:xfrm>
            <a:off x="4846320" y="2834640"/>
            <a:ext cx="1645920" cy="822960"/>
          </a:xfrm>
          <a:prstGeom prst="roundRect">
            <a:avLst>
              <a:gd name="adj" fmla="val 13333"/>
            </a:avLst>
          </a:prstGeom>
          <a:solidFill>
            <a:schemeClr val="bg1"/>
          </a:solidFill>
          <a:ln w="12700">
            <a:solidFill>
              <a:schemeClr val="bg1"/>
            </a:solidFill>
            <a:prstDash val="solid"/>
          </a:ln>
          <a:effectLst>
            <a:outerShdw sx="100000" sy="100000" kx="0" ky="0" algn="bl" rotWithShape="0" blurRad="114300" dist="25400" dir="5400000">
              <a:srgbClr val="142238">
                <a:alpha val="13000"/>
              </a:srgbClr>
            </a:outerShdw>
          </a:effectLst>
        </p:spPr>
      </p:sp>
      <p:sp>
        <p:nvSpPr>
          <p:cNvPr id="36" name="Web tools icon circle"/>
          <p:cNvSpPr/>
          <p:nvPr/>
        </p:nvSpPr>
        <p:spPr>
          <a:xfrm>
            <a:off x="4983480" y="2971800"/>
            <a:ext cx="384048" cy="384048"/>
          </a:xfrm>
          <a:prstGeom prst="ellipse">
            <a:avLst/>
          </a:prstGeom>
          <a:solidFill>
            <a:schemeClr val="accent1"/>
          </a:solidFill>
          <a:ln w="12700">
            <a:solidFill>
              <a:schemeClr val="accent1"/>
            </a:solidFill>
            <a:prstDash val="solid"/>
          </a:ln>
        </p:spPr>
      </p:sp>
      <p:pic>
        <p:nvPicPr>
          <p:cNvPr id="37" name="Web tools icon" descr="Web tools">    </p:cNvPr>
          <p:cNvPicPr>
            <a:picLocks noChangeAspect="1"/>
          </p:cNvPicPr>
          <p:nvPr/>
        </p:nvPicPr>
        <p:blipFill>
          <a:blip r:embed="rId6"/>
          <a:stretch>
            <a:fillRect/>
          </a:stretch>
        </p:blipFill>
        <p:spPr>
          <a:xfrm>
            <a:off x="5079492" y="3067812"/>
            <a:ext cx="192024" cy="192024"/>
          </a:xfrm>
          <a:prstGeom prst="rect">
            <a:avLst/>
          </a:prstGeom>
        </p:spPr>
      </p:pic>
      <p:sp>
        <p:nvSpPr>
          <p:cNvPr id="38" name="Web tools text"/>
          <p:cNvSpPr txBox="1"/>
          <p:nvPr/>
        </p:nvSpPr>
        <p:spPr>
          <a:xfrm>
            <a:off x="5440680" y="2834640"/>
            <a:ext cx="1005840" cy="822960"/>
          </a:xfrm>
          <a:prstGeom prst="rect">
            <a:avLst/>
          </a:prstGeom>
          <a:noFill/>
          <a:ln/>
        </p:spPr>
        <p:txBody>
          <a:bodyPr wrap="square" lIns="0" tIns="0" rIns="0" bIns="0" rtlCol="0" anchor="ctr"/>
          <a:lstStyle/>
          <a:p>
            <a:pPr indent="0" marL="0">
              <a:buNone/>
            </a:pPr>
            <a:r>
              <a:rPr lang="en-US" sz="1400" b="1" dirty="0">
                <a:solidFill>
                  <a:schemeClr val="tx2"/>
                </a:solidFill>
              </a:rPr>
              <a:t>Web tools</a:t>
            </a:r>
            <a:endParaRPr lang="en-US" sz="1400" dirty="0"/>
          </a:p>
          <a:p>
            <a:pPr indent="0" marL="0">
              <a:buNone/>
            </a:pPr>
            <a:r>
              <a:rPr lang="en-US" sz="1100" dirty="0">
                <a:solidFill>
                  <a:schemeClr val="accent6"/>
                </a:solidFill>
              </a:rPr>
              <a:t>search, news, page reader</a:t>
            </a:r>
            <a:endParaRPr lang="en-US" sz="1400" dirty="0"/>
          </a:p>
        </p:txBody>
      </p:sp>
      <p:sp>
        <p:nvSpPr>
          <p:cNvPr id="39" name="Rule 1 card"/>
          <p:cNvSpPr/>
          <p:nvPr/>
        </p:nvSpPr>
        <p:spPr>
          <a:xfrm>
            <a:off x="457200" y="3931920"/>
            <a:ext cx="2651760" cy="713232"/>
          </a:xfrm>
          <a:prstGeom prst="roundRect">
            <a:avLst>
              <a:gd name="adj" fmla="val 15385"/>
            </a:avLst>
          </a:prstGeom>
          <a:solidFill>
            <a:schemeClr val="bg1"/>
          </a:solidFill>
          <a:ln w="12700">
            <a:solidFill>
              <a:schemeClr val="bg1"/>
            </a:solidFill>
            <a:prstDash val="solid"/>
          </a:ln>
          <a:effectLst>
            <a:outerShdw sx="100000" sy="100000" kx="0" ky="0" algn="bl" rotWithShape="0" blurRad="114300" dist="25400" dir="5400000">
              <a:srgbClr val="142238">
                <a:alpha val="13000"/>
              </a:srgbClr>
            </a:outerShdw>
          </a:effectLst>
        </p:spPr>
      </p:sp>
      <p:sp>
        <p:nvSpPr>
          <p:cNvPr id="40" name="Code decides, the model writes icon circle"/>
          <p:cNvSpPr/>
          <p:nvPr/>
        </p:nvSpPr>
        <p:spPr>
          <a:xfrm>
            <a:off x="594360" y="4050792"/>
            <a:ext cx="457200" cy="457200"/>
          </a:xfrm>
          <a:prstGeom prst="ellipse">
            <a:avLst/>
          </a:prstGeom>
          <a:solidFill>
            <a:schemeClr val="accent2"/>
          </a:solidFill>
          <a:ln w="12700">
            <a:solidFill>
              <a:schemeClr val="accent2"/>
            </a:solidFill>
            <a:prstDash val="solid"/>
          </a:ln>
        </p:spPr>
      </p:sp>
      <p:pic>
        <p:nvPicPr>
          <p:cNvPr id="41" name="Code decides, the model writes icon" descr="Code decides, the model writes">    </p:cNvPr>
          <p:cNvPicPr>
            <a:picLocks noChangeAspect="1"/>
          </p:cNvPicPr>
          <p:nvPr/>
        </p:nvPicPr>
        <p:blipFill>
          <a:blip r:embed="rId7"/>
          <a:stretch>
            <a:fillRect/>
          </a:stretch>
        </p:blipFill>
        <p:spPr>
          <a:xfrm>
            <a:off x="708660" y="4165092"/>
            <a:ext cx="228600" cy="228600"/>
          </a:xfrm>
          <a:prstGeom prst="rect">
            <a:avLst/>
          </a:prstGeom>
        </p:spPr>
      </p:pic>
      <p:sp>
        <p:nvSpPr>
          <p:cNvPr id="42" name="Rule 1 text"/>
          <p:cNvSpPr txBox="1"/>
          <p:nvPr/>
        </p:nvSpPr>
        <p:spPr>
          <a:xfrm>
            <a:off x="1188720" y="3931920"/>
            <a:ext cx="1828800" cy="713232"/>
          </a:xfrm>
          <a:prstGeom prst="rect">
            <a:avLst/>
          </a:prstGeom>
          <a:noFill/>
          <a:ln/>
        </p:spPr>
        <p:txBody>
          <a:bodyPr wrap="square" lIns="0" tIns="0" rIns="0" bIns="0" rtlCol="0" anchor="ctr"/>
          <a:lstStyle/>
          <a:p>
            <a:pPr indent="0" marL="0">
              <a:buNone/>
            </a:pPr>
            <a:r>
              <a:rPr lang="en-US" sz="1400" b="1" dirty="0">
                <a:solidFill>
                  <a:schemeClr val="tx2"/>
                </a:solidFill>
              </a:rPr>
              <a:t>Code decides, the model writes</a:t>
            </a:r>
            <a:endParaRPr lang="en-US" sz="1400" dirty="0"/>
          </a:p>
        </p:txBody>
      </p:sp>
      <p:sp>
        <p:nvSpPr>
          <p:cNvPr id="43" name="Rule 2 card"/>
          <p:cNvSpPr/>
          <p:nvPr/>
        </p:nvSpPr>
        <p:spPr>
          <a:xfrm>
            <a:off x="3246120" y="3931920"/>
            <a:ext cx="2651760" cy="713232"/>
          </a:xfrm>
          <a:prstGeom prst="roundRect">
            <a:avLst>
              <a:gd name="adj" fmla="val 15385"/>
            </a:avLst>
          </a:prstGeom>
          <a:solidFill>
            <a:schemeClr val="bg1"/>
          </a:solidFill>
          <a:ln w="12700">
            <a:solidFill>
              <a:schemeClr val="bg1"/>
            </a:solidFill>
            <a:prstDash val="solid"/>
          </a:ln>
          <a:effectLst>
            <a:outerShdw sx="100000" sy="100000" kx="0" ky="0" algn="bl" rotWithShape="0" blurRad="114300" dist="25400" dir="5400000">
              <a:srgbClr val="142238">
                <a:alpha val="13000"/>
              </a:srgbClr>
            </a:outerShdw>
          </a:effectLst>
        </p:spPr>
      </p:sp>
      <p:sp>
        <p:nvSpPr>
          <p:cNvPr id="44" name="Every step shown live icon circle"/>
          <p:cNvSpPr/>
          <p:nvPr/>
        </p:nvSpPr>
        <p:spPr>
          <a:xfrm>
            <a:off x="3383280" y="4050792"/>
            <a:ext cx="457200" cy="457200"/>
          </a:xfrm>
          <a:prstGeom prst="ellipse">
            <a:avLst/>
          </a:prstGeom>
          <a:solidFill>
            <a:schemeClr val="accent2"/>
          </a:solidFill>
          <a:ln w="12700">
            <a:solidFill>
              <a:schemeClr val="accent2"/>
            </a:solidFill>
            <a:prstDash val="solid"/>
          </a:ln>
        </p:spPr>
      </p:sp>
      <p:pic>
        <p:nvPicPr>
          <p:cNvPr id="45" name="Every step shown live icon" descr="Every step shown live">    </p:cNvPr>
          <p:cNvPicPr>
            <a:picLocks noChangeAspect="1"/>
          </p:cNvPicPr>
          <p:nvPr/>
        </p:nvPicPr>
        <p:blipFill>
          <a:blip r:embed="rId8"/>
          <a:stretch>
            <a:fillRect/>
          </a:stretch>
        </p:blipFill>
        <p:spPr>
          <a:xfrm>
            <a:off x="3497580" y="4165092"/>
            <a:ext cx="228600" cy="228600"/>
          </a:xfrm>
          <a:prstGeom prst="rect">
            <a:avLst/>
          </a:prstGeom>
        </p:spPr>
      </p:pic>
      <p:sp>
        <p:nvSpPr>
          <p:cNvPr id="46" name="Rule 2 text"/>
          <p:cNvSpPr txBox="1"/>
          <p:nvPr/>
        </p:nvSpPr>
        <p:spPr>
          <a:xfrm>
            <a:off x="3977640" y="3931920"/>
            <a:ext cx="1828800" cy="713232"/>
          </a:xfrm>
          <a:prstGeom prst="rect">
            <a:avLst/>
          </a:prstGeom>
          <a:noFill/>
          <a:ln/>
        </p:spPr>
        <p:txBody>
          <a:bodyPr wrap="square" lIns="0" tIns="0" rIns="0" bIns="0" rtlCol="0" anchor="ctr"/>
          <a:lstStyle/>
          <a:p>
            <a:pPr indent="0" marL="0">
              <a:buNone/>
            </a:pPr>
            <a:r>
              <a:rPr lang="en-US" sz="1400" b="1" dirty="0">
                <a:solidFill>
                  <a:schemeClr val="tx2"/>
                </a:solidFill>
              </a:rPr>
              <a:t>Every step shown live</a:t>
            </a:r>
            <a:endParaRPr lang="en-US" sz="1400" dirty="0"/>
          </a:p>
        </p:txBody>
      </p:sp>
      <p:sp>
        <p:nvSpPr>
          <p:cNvPr id="47" name="Rule 3 card"/>
          <p:cNvSpPr/>
          <p:nvPr/>
        </p:nvSpPr>
        <p:spPr>
          <a:xfrm>
            <a:off x="6035040" y="3931920"/>
            <a:ext cx="2651760" cy="713232"/>
          </a:xfrm>
          <a:prstGeom prst="roundRect">
            <a:avLst>
              <a:gd name="adj" fmla="val 15385"/>
            </a:avLst>
          </a:prstGeom>
          <a:solidFill>
            <a:schemeClr val="bg1"/>
          </a:solidFill>
          <a:ln w="12700">
            <a:solidFill>
              <a:schemeClr val="bg1"/>
            </a:solidFill>
            <a:prstDash val="solid"/>
          </a:ln>
          <a:effectLst>
            <a:outerShdw sx="100000" sy="100000" kx="0" ky="0" algn="bl" rotWithShape="0" blurRad="114300" dist="25400" dir="5400000">
              <a:srgbClr val="142238">
                <a:alpha val="13000"/>
              </a:srgbClr>
            </a:outerShdw>
          </a:effectLst>
        </p:spPr>
      </p:sp>
      <p:sp>
        <p:nvSpPr>
          <p:cNvPr id="48" name="Private by default icon circle"/>
          <p:cNvSpPr/>
          <p:nvPr/>
        </p:nvSpPr>
        <p:spPr>
          <a:xfrm>
            <a:off x="6172200" y="4050792"/>
            <a:ext cx="457200" cy="457200"/>
          </a:xfrm>
          <a:prstGeom prst="ellipse">
            <a:avLst/>
          </a:prstGeom>
          <a:solidFill>
            <a:schemeClr val="accent2"/>
          </a:solidFill>
          <a:ln w="12700">
            <a:solidFill>
              <a:schemeClr val="accent2"/>
            </a:solidFill>
            <a:prstDash val="solid"/>
          </a:ln>
        </p:spPr>
      </p:sp>
      <p:pic>
        <p:nvPicPr>
          <p:cNvPr id="49" name="Private by default icon" descr="Private by default">    </p:cNvPr>
          <p:cNvPicPr>
            <a:picLocks noChangeAspect="1"/>
          </p:cNvPicPr>
          <p:nvPr/>
        </p:nvPicPr>
        <p:blipFill>
          <a:blip r:embed="rId9"/>
          <a:stretch>
            <a:fillRect/>
          </a:stretch>
        </p:blipFill>
        <p:spPr>
          <a:xfrm>
            <a:off x="6286500" y="4165092"/>
            <a:ext cx="228600" cy="228600"/>
          </a:xfrm>
          <a:prstGeom prst="rect">
            <a:avLst/>
          </a:prstGeom>
        </p:spPr>
      </p:pic>
      <p:sp>
        <p:nvSpPr>
          <p:cNvPr id="50" name="Rule 3 text"/>
          <p:cNvSpPr txBox="1"/>
          <p:nvPr/>
        </p:nvSpPr>
        <p:spPr>
          <a:xfrm>
            <a:off x="6766560" y="3931920"/>
            <a:ext cx="1828800" cy="713232"/>
          </a:xfrm>
          <a:prstGeom prst="rect">
            <a:avLst/>
          </a:prstGeom>
          <a:noFill/>
          <a:ln/>
        </p:spPr>
        <p:txBody>
          <a:bodyPr wrap="square" lIns="0" tIns="0" rIns="0" bIns="0" rtlCol="0" anchor="ctr"/>
          <a:lstStyle/>
          <a:p>
            <a:pPr indent="0" marL="0">
              <a:buNone/>
            </a:pPr>
            <a:r>
              <a:rPr lang="en-US" sz="1400" b="1" dirty="0">
                <a:solidFill>
                  <a:schemeClr val="tx2"/>
                </a:solidFill>
              </a:rPr>
              <a:t>Private by default</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The Agent Crew</a:t>
            </a:r>
            <a:endParaRPr lang="en-US" sz="3000" dirty="0"/>
          </a:p>
        </p:txBody>
      </p:sp>
      <p:sp>
        <p:nvSpPr>
          <p:cNvPr id="3" name="Company Researcher card"/>
          <p:cNvSpPr/>
          <p:nvPr/>
        </p:nvSpPr>
        <p:spPr>
          <a:xfrm>
            <a:off x="457200" y="1143000"/>
            <a:ext cx="1828800" cy="2240280"/>
          </a:xfrm>
          <a:prstGeom prst="roundRect">
            <a:avLst>
              <a:gd name="adj" fmla="val 6000"/>
            </a:avLst>
          </a:prstGeom>
          <a:solidFill>
            <a:schemeClr val="bg1"/>
          </a:solidFill>
          <a:ln w="12700">
            <a:solidFill>
              <a:schemeClr val="bg1"/>
            </a:solidFill>
            <a:prstDash val="solid"/>
          </a:ln>
          <a:effectLst>
            <a:outerShdw sx="100000" sy="100000" kx="0" ky="0" algn="bl" rotWithShape="0" blurRad="114300" dist="25400" dir="5400000">
              <a:srgbClr val="142238">
                <a:alpha val="13000"/>
              </a:srgbClr>
            </a:outerShdw>
          </a:effectLst>
        </p:spPr>
      </p:sp>
      <p:sp>
        <p:nvSpPr>
          <p:cNvPr id="4" name="Company Researcher icon circle"/>
          <p:cNvSpPr/>
          <p:nvPr/>
        </p:nvSpPr>
        <p:spPr>
          <a:xfrm>
            <a:off x="621792" y="1280160"/>
            <a:ext cx="502920" cy="502920"/>
          </a:xfrm>
          <a:prstGeom prst="ellipse">
            <a:avLst/>
          </a:prstGeom>
          <a:solidFill>
            <a:schemeClr val="accent1"/>
          </a:solidFill>
          <a:ln w="12700">
            <a:solidFill>
              <a:schemeClr val="accent1"/>
            </a:solidFill>
            <a:prstDash val="solid"/>
          </a:ln>
        </p:spPr>
      </p:sp>
      <p:pic>
        <p:nvPicPr>
          <p:cNvPr id="5" name="Company Researcher icon" descr="Company Researcher">    </p:cNvPr>
          <p:cNvPicPr>
            <a:picLocks noChangeAspect="1"/>
          </p:cNvPicPr>
          <p:nvPr/>
        </p:nvPicPr>
        <p:blipFill>
          <a:blip r:embed="rId1"/>
          <a:stretch>
            <a:fillRect/>
          </a:stretch>
        </p:blipFill>
        <p:spPr>
          <a:xfrm>
            <a:off x="747522" y="1405890"/>
            <a:ext cx="251460" cy="251460"/>
          </a:xfrm>
          <a:prstGeom prst="rect">
            <a:avLst/>
          </a:prstGeom>
        </p:spPr>
      </p:pic>
      <p:sp>
        <p:nvSpPr>
          <p:cNvPr id="6" name="Company Researcher number"/>
          <p:cNvSpPr txBox="1"/>
          <p:nvPr/>
        </p:nvSpPr>
        <p:spPr>
          <a:xfrm>
            <a:off x="1783080" y="1280160"/>
            <a:ext cx="338328" cy="338328"/>
          </a:xfrm>
          <a:prstGeom prst="rect">
            <a:avLst/>
          </a:prstGeom>
          <a:noFill/>
          <a:ln/>
        </p:spPr>
        <p:txBody>
          <a:bodyPr wrap="square" lIns="0" tIns="0" rIns="0" bIns="0" rtlCol="0" anchor="ctr"/>
          <a:lstStyle/>
          <a:p>
            <a:pPr algn="ctr" indent="0" marL="0">
              <a:buNone/>
            </a:pPr>
            <a:r>
              <a:rPr lang="en-US" sz="1300" b="1" dirty="0">
                <a:solidFill>
                  <a:schemeClr val="accent6"/>
                </a:solidFill>
              </a:rPr>
              <a:t>1</a:t>
            </a:r>
            <a:endParaRPr lang="en-US" sz="1300" dirty="0"/>
          </a:p>
        </p:txBody>
      </p:sp>
      <p:sp>
        <p:nvSpPr>
          <p:cNvPr id="7" name="Company Researcher name"/>
          <p:cNvSpPr txBox="1"/>
          <p:nvPr/>
        </p:nvSpPr>
        <p:spPr>
          <a:xfrm>
            <a:off x="621792" y="1874520"/>
            <a:ext cx="1554480" cy="457200"/>
          </a:xfrm>
          <a:prstGeom prst="rect">
            <a:avLst/>
          </a:prstGeom>
          <a:noFill/>
          <a:ln/>
        </p:spPr>
        <p:txBody>
          <a:bodyPr wrap="square" lIns="0" tIns="0" rIns="0" bIns="0" rtlCol="0" anchor="t"/>
          <a:lstStyle/>
          <a:p>
            <a:pPr indent="0" marL="0">
              <a:buNone/>
            </a:pPr>
            <a:r>
              <a:rPr lang="en-US" sz="1500" b="1" dirty="0">
                <a:solidFill>
                  <a:schemeClr val="tx2"/>
                </a:solidFill>
              </a:rPr>
              <a:t>Company Researcher</a:t>
            </a:r>
            <a:endParaRPr lang="en-US" sz="1500" dirty="0"/>
          </a:p>
        </p:txBody>
      </p:sp>
      <p:sp>
        <p:nvSpPr>
          <p:cNvPr id="8" name="Company Researcher output"/>
          <p:cNvSpPr txBox="1"/>
          <p:nvPr/>
        </p:nvSpPr>
        <p:spPr>
          <a:xfrm>
            <a:off x="621792" y="2331720"/>
            <a:ext cx="1554480" cy="411480"/>
          </a:xfrm>
          <a:prstGeom prst="rect">
            <a:avLst/>
          </a:prstGeom>
          <a:noFill/>
          <a:ln/>
        </p:spPr>
        <p:txBody>
          <a:bodyPr wrap="square" lIns="0" tIns="0" rIns="0" bIns="0" rtlCol="0" anchor="t"/>
          <a:lstStyle/>
          <a:p>
            <a:pPr indent="0" marL="0">
              <a:buNone/>
            </a:pPr>
            <a:r>
              <a:rPr lang="en-US" sz="1200" dirty="0">
                <a:solidFill>
                  <a:schemeClr val="accent6"/>
                </a:solidFill>
              </a:rPr>
              <a:t>Company brief with sources</a:t>
            </a:r>
            <a:endParaRPr lang="en-US" sz="1200" dirty="0"/>
          </a:p>
        </p:txBody>
      </p:sp>
      <p:sp>
        <p:nvSpPr>
          <p:cNvPr id="9" name="Company Researcher tool 1 chip"/>
          <p:cNvSpPr/>
          <p:nvPr/>
        </p:nvSpPr>
        <p:spPr>
          <a:xfrm>
            <a:off x="621792" y="2788920"/>
            <a:ext cx="1499616" cy="228600"/>
          </a:xfrm>
          <a:prstGeom prst="roundRect">
            <a:avLst>
              <a:gd name="adj" fmla="val 32000"/>
            </a:avLst>
          </a:prstGeom>
          <a:solidFill>
            <a:schemeClr val="bg2"/>
          </a:solidFill>
          <a:ln w="12700">
            <a:solidFill>
              <a:schemeClr val="bg2"/>
            </a:solidFill>
            <a:prstDash val="solid"/>
          </a:ln>
        </p:spPr>
      </p:sp>
      <p:sp>
        <p:nvSpPr>
          <p:cNvPr id="10" name="Company Researcher tool 1 chip text"/>
          <p:cNvSpPr txBox="1"/>
          <p:nvPr/>
        </p:nvSpPr>
        <p:spPr>
          <a:xfrm>
            <a:off x="621792" y="2788920"/>
            <a:ext cx="1499616" cy="228600"/>
          </a:xfrm>
          <a:prstGeom prst="rect">
            <a:avLst/>
          </a:prstGeom>
          <a:noFill/>
          <a:ln/>
        </p:spPr>
        <p:txBody>
          <a:bodyPr wrap="square" lIns="0" tIns="0" rIns="0" bIns="0" rtlCol="0" anchor="ctr"/>
          <a:lstStyle/>
          <a:p>
            <a:pPr algn="ctr" indent="0" marL="0">
              <a:buNone/>
            </a:pPr>
            <a:r>
              <a:rPr lang="en-US" sz="1000" b="1" dirty="0">
                <a:solidFill>
                  <a:schemeClr val="tx2"/>
                </a:solidFill>
                <a:latin typeface="Courier New" pitchFamily="34" charset="0"/>
                <a:ea typeface="Courier New" pitchFamily="34" charset="-122"/>
                <a:cs typeface="Courier New" pitchFamily="34" charset="-120"/>
              </a:rPr>
              <a:t>web_search</a:t>
            </a:r>
            <a:endParaRPr lang="en-US" sz="1000" dirty="0"/>
          </a:p>
        </p:txBody>
      </p:sp>
      <p:sp>
        <p:nvSpPr>
          <p:cNvPr id="11" name="Company Researcher tool 2 chip"/>
          <p:cNvSpPr/>
          <p:nvPr/>
        </p:nvSpPr>
        <p:spPr>
          <a:xfrm>
            <a:off x="621792" y="3063240"/>
            <a:ext cx="1499616" cy="228600"/>
          </a:xfrm>
          <a:prstGeom prst="roundRect">
            <a:avLst>
              <a:gd name="adj" fmla="val 32000"/>
            </a:avLst>
          </a:prstGeom>
          <a:solidFill>
            <a:schemeClr val="bg2"/>
          </a:solidFill>
          <a:ln w="12700">
            <a:solidFill>
              <a:schemeClr val="bg2"/>
            </a:solidFill>
            <a:prstDash val="solid"/>
          </a:ln>
        </p:spPr>
      </p:sp>
      <p:sp>
        <p:nvSpPr>
          <p:cNvPr id="12" name="Company Researcher tool 2 chip text"/>
          <p:cNvSpPr txBox="1"/>
          <p:nvPr/>
        </p:nvSpPr>
        <p:spPr>
          <a:xfrm>
            <a:off x="621792" y="3063240"/>
            <a:ext cx="1499616" cy="228600"/>
          </a:xfrm>
          <a:prstGeom prst="rect">
            <a:avLst/>
          </a:prstGeom>
          <a:noFill/>
          <a:ln/>
        </p:spPr>
        <p:txBody>
          <a:bodyPr wrap="square" lIns="0" tIns="0" rIns="0" bIns="0" rtlCol="0" anchor="ctr"/>
          <a:lstStyle/>
          <a:p>
            <a:pPr algn="ctr" indent="0" marL="0">
              <a:buNone/>
            </a:pPr>
            <a:r>
              <a:rPr lang="en-US" sz="1000" b="1" dirty="0">
                <a:solidFill>
                  <a:schemeClr val="tx2"/>
                </a:solidFill>
                <a:latin typeface="Courier New" pitchFamily="34" charset="0"/>
                <a:ea typeface="Courier New" pitchFamily="34" charset="-122"/>
                <a:cs typeface="Courier New" pitchFamily="34" charset="-120"/>
              </a:rPr>
              <a:t>news_search</a:t>
            </a:r>
            <a:endParaRPr lang="en-US" sz="1000" dirty="0"/>
          </a:p>
        </p:txBody>
      </p:sp>
      <p:sp>
        <p:nvSpPr>
          <p:cNvPr id="13" name="Hand-off 1"/>
          <p:cNvSpPr/>
          <p:nvPr/>
        </p:nvSpPr>
        <p:spPr>
          <a:xfrm>
            <a:off x="2340864" y="2084832"/>
            <a:ext cx="201168" cy="329184"/>
          </a:xfrm>
          <a:prstGeom prst="chevron">
            <a:avLst/>
          </a:prstGeom>
          <a:solidFill>
            <a:schemeClr val="accent1"/>
          </a:solidFill>
          <a:ln w="12700">
            <a:solidFill>
              <a:schemeClr val="accent1"/>
            </a:solidFill>
            <a:prstDash val="solid"/>
          </a:ln>
        </p:spPr>
      </p:sp>
      <p:sp>
        <p:nvSpPr>
          <p:cNvPr id="14" name="Role Analyst card"/>
          <p:cNvSpPr/>
          <p:nvPr/>
        </p:nvSpPr>
        <p:spPr>
          <a:xfrm>
            <a:off x="2590495" y="1143000"/>
            <a:ext cx="1828800" cy="2240280"/>
          </a:xfrm>
          <a:prstGeom prst="roundRect">
            <a:avLst>
              <a:gd name="adj" fmla="val 6000"/>
            </a:avLst>
          </a:prstGeom>
          <a:solidFill>
            <a:schemeClr val="bg1"/>
          </a:solidFill>
          <a:ln w="12700">
            <a:solidFill>
              <a:schemeClr val="bg1"/>
            </a:solidFill>
            <a:prstDash val="solid"/>
          </a:ln>
          <a:effectLst>
            <a:outerShdw sx="100000" sy="100000" kx="0" ky="0" algn="bl" rotWithShape="0" blurRad="114300" dist="25400" dir="5400000">
              <a:srgbClr val="142238">
                <a:alpha val="13000"/>
              </a:srgbClr>
            </a:outerShdw>
          </a:effectLst>
        </p:spPr>
      </p:sp>
      <p:sp>
        <p:nvSpPr>
          <p:cNvPr id="15" name="Role Analyst icon circle"/>
          <p:cNvSpPr/>
          <p:nvPr/>
        </p:nvSpPr>
        <p:spPr>
          <a:xfrm>
            <a:off x="2755087" y="1280160"/>
            <a:ext cx="502920" cy="502920"/>
          </a:xfrm>
          <a:prstGeom prst="ellipse">
            <a:avLst/>
          </a:prstGeom>
          <a:solidFill>
            <a:schemeClr val="accent1"/>
          </a:solidFill>
          <a:ln w="12700">
            <a:solidFill>
              <a:schemeClr val="accent1"/>
            </a:solidFill>
            <a:prstDash val="solid"/>
          </a:ln>
        </p:spPr>
      </p:sp>
      <p:pic>
        <p:nvPicPr>
          <p:cNvPr id="16" name="Role Analyst icon" descr="Role Analyst">    </p:cNvPr>
          <p:cNvPicPr>
            <a:picLocks noChangeAspect="1"/>
          </p:cNvPicPr>
          <p:nvPr/>
        </p:nvPicPr>
        <p:blipFill>
          <a:blip r:embed="rId2"/>
          <a:stretch>
            <a:fillRect/>
          </a:stretch>
        </p:blipFill>
        <p:spPr>
          <a:xfrm>
            <a:off x="2880817" y="1405890"/>
            <a:ext cx="251460" cy="251460"/>
          </a:xfrm>
          <a:prstGeom prst="rect">
            <a:avLst/>
          </a:prstGeom>
        </p:spPr>
      </p:pic>
      <p:sp>
        <p:nvSpPr>
          <p:cNvPr id="17" name="Role Analyst number"/>
          <p:cNvSpPr txBox="1"/>
          <p:nvPr/>
        </p:nvSpPr>
        <p:spPr>
          <a:xfrm>
            <a:off x="3916375" y="1280160"/>
            <a:ext cx="338328" cy="338328"/>
          </a:xfrm>
          <a:prstGeom prst="rect">
            <a:avLst/>
          </a:prstGeom>
          <a:noFill/>
          <a:ln/>
        </p:spPr>
        <p:txBody>
          <a:bodyPr wrap="square" lIns="0" tIns="0" rIns="0" bIns="0" rtlCol="0" anchor="ctr"/>
          <a:lstStyle/>
          <a:p>
            <a:pPr algn="ctr" indent="0" marL="0">
              <a:buNone/>
            </a:pPr>
            <a:r>
              <a:rPr lang="en-US" sz="1300" b="1" dirty="0">
                <a:solidFill>
                  <a:schemeClr val="accent6"/>
                </a:solidFill>
              </a:rPr>
              <a:t>2</a:t>
            </a:r>
            <a:endParaRPr lang="en-US" sz="1300" dirty="0"/>
          </a:p>
        </p:txBody>
      </p:sp>
      <p:sp>
        <p:nvSpPr>
          <p:cNvPr id="18" name="Role Analyst name"/>
          <p:cNvSpPr txBox="1"/>
          <p:nvPr/>
        </p:nvSpPr>
        <p:spPr>
          <a:xfrm>
            <a:off x="2755087" y="1874520"/>
            <a:ext cx="1554480" cy="457200"/>
          </a:xfrm>
          <a:prstGeom prst="rect">
            <a:avLst/>
          </a:prstGeom>
          <a:noFill/>
          <a:ln/>
        </p:spPr>
        <p:txBody>
          <a:bodyPr wrap="square" lIns="0" tIns="0" rIns="0" bIns="0" rtlCol="0" anchor="t"/>
          <a:lstStyle/>
          <a:p>
            <a:pPr indent="0" marL="0">
              <a:buNone/>
            </a:pPr>
            <a:r>
              <a:rPr lang="en-US" sz="1500" b="1" dirty="0">
                <a:solidFill>
                  <a:schemeClr val="tx2"/>
                </a:solidFill>
              </a:rPr>
              <a:t>Role Analyst</a:t>
            </a:r>
            <a:endParaRPr lang="en-US" sz="1500" dirty="0"/>
          </a:p>
        </p:txBody>
      </p:sp>
      <p:sp>
        <p:nvSpPr>
          <p:cNvPr id="19" name="Role Analyst output"/>
          <p:cNvSpPr txBox="1"/>
          <p:nvPr/>
        </p:nvSpPr>
        <p:spPr>
          <a:xfrm>
            <a:off x="2755087" y="2331720"/>
            <a:ext cx="1554480" cy="411480"/>
          </a:xfrm>
          <a:prstGeom prst="rect">
            <a:avLst/>
          </a:prstGeom>
          <a:noFill/>
          <a:ln/>
        </p:spPr>
        <p:txBody>
          <a:bodyPr wrap="square" lIns="0" tIns="0" rIns="0" bIns="0" rtlCol="0" anchor="t"/>
          <a:lstStyle/>
          <a:p>
            <a:pPr indent="0" marL="0">
              <a:buNone/>
            </a:pPr>
            <a:r>
              <a:rPr lang="en-US" sz="1200" dirty="0">
                <a:solidFill>
                  <a:schemeClr val="accent6"/>
                </a:solidFill>
              </a:rPr>
              <a:t>Skills, interview rounds, gaps</a:t>
            </a:r>
            <a:endParaRPr lang="en-US" sz="1200" dirty="0"/>
          </a:p>
        </p:txBody>
      </p:sp>
      <p:sp>
        <p:nvSpPr>
          <p:cNvPr id="20" name="Role Analyst tool 1 chip"/>
          <p:cNvSpPr/>
          <p:nvPr/>
        </p:nvSpPr>
        <p:spPr>
          <a:xfrm>
            <a:off x="2755087" y="2788920"/>
            <a:ext cx="1499616" cy="228600"/>
          </a:xfrm>
          <a:prstGeom prst="roundRect">
            <a:avLst>
              <a:gd name="adj" fmla="val 32000"/>
            </a:avLst>
          </a:prstGeom>
          <a:solidFill>
            <a:schemeClr val="bg2"/>
          </a:solidFill>
          <a:ln w="12700">
            <a:solidFill>
              <a:schemeClr val="bg2"/>
            </a:solidFill>
            <a:prstDash val="solid"/>
          </a:ln>
        </p:spPr>
      </p:sp>
      <p:sp>
        <p:nvSpPr>
          <p:cNvPr id="21" name="Role Analyst tool 1 chip text"/>
          <p:cNvSpPr txBox="1"/>
          <p:nvPr/>
        </p:nvSpPr>
        <p:spPr>
          <a:xfrm>
            <a:off x="2755087" y="2788920"/>
            <a:ext cx="1499616" cy="228600"/>
          </a:xfrm>
          <a:prstGeom prst="rect">
            <a:avLst/>
          </a:prstGeom>
          <a:noFill/>
          <a:ln/>
        </p:spPr>
        <p:txBody>
          <a:bodyPr wrap="square" lIns="0" tIns="0" rIns="0" bIns="0" rtlCol="0" anchor="ctr"/>
          <a:lstStyle/>
          <a:p>
            <a:pPr algn="ctr" indent="0" marL="0">
              <a:buNone/>
            </a:pPr>
            <a:r>
              <a:rPr lang="en-US" sz="1000" b="1" dirty="0">
                <a:solidFill>
                  <a:schemeClr val="tx2"/>
                </a:solidFill>
                <a:latin typeface="Courier New" pitchFamily="34" charset="0"/>
                <a:ea typeface="Courier New" pitchFamily="34" charset="-122"/>
                <a:cs typeface="Courier New" pitchFamily="34" charset="-120"/>
              </a:rPr>
              <a:t>web_search</a:t>
            </a:r>
            <a:endParaRPr lang="en-US" sz="1000" dirty="0"/>
          </a:p>
        </p:txBody>
      </p:sp>
      <p:sp>
        <p:nvSpPr>
          <p:cNvPr id="22" name="Role Analyst tool 2 chip"/>
          <p:cNvSpPr/>
          <p:nvPr/>
        </p:nvSpPr>
        <p:spPr>
          <a:xfrm>
            <a:off x="2755087" y="3063240"/>
            <a:ext cx="1499616" cy="228600"/>
          </a:xfrm>
          <a:prstGeom prst="roundRect">
            <a:avLst>
              <a:gd name="adj" fmla="val 32000"/>
            </a:avLst>
          </a:prstGeom>
          <a:solidFill>
            <a:schemeClr val="bg2"/>
          </a:solidFill>
          <a:ln w="12700">
            <a:solidFill>
              <a:schemeClr val="bg2"/>
            </a:solidFill>
            <a:prstDash val="solid"/>
          </a:ln>
        </p:spPr>
      </p:sp>
      <p:sp>
        <p:nvSpPr>
          <p:cNvPr id="23" name="Role Analyst tool 2 chip text"/>
          <p:cNvSpPr txBox="1"/>
          <p:nvPr/>
        </p:nvSpPr>
        <p:spPr>
          <a:xfrm>
            <a:off x="2755087" y="3063240"/>
            <a:ext cx="1499616" cy="228600"/>
          </a:xfrm>
          <a:prstGeom prst="rect">
            <a:avLst/>
          </a:prstGeom>
          <a:noFill/>
          <a:ln/>
        </p:spPr>
        <p:txBody>
          <a:bodyPr wrap="square" lIns="0" tIns="0" rIns="0" bIns="0" rtlCol="0" anchor="ctr"/>
          <a:lstStyle/>
          <a:p>
            <a:pPr algn="ctr" indent="0" marL="0">
              <a:buNone/>
            </a:pPr>
            <a:r>
              <a:rPr lang="en-US" sz="1000" b="1" dirty="0">
                <a:solidFill>
                  <a:schemeClr val="tx2"/>
                </a:solidFill>
                <a:latin typeface="Courier New" pitchFamily="34" charset="0"/>
                <a:ea typeface="Courier New" pitchFamily="34" charset="-122"/>
                <a:cs typeface="Courier New" pitchFamily="34" charset="-120"/>
              </a:rPr>
              <a:t>read_webpage</a:t>
            </a:r>
            <a:endParaRPr lang="en-US" sz="1000" dirty="0"/>
          </a:p>
        </p:txBody>
      </p:sp>
      <p:sp>
        <p:nvSpPr>
          <p:cNvPr id="24" name="Hand-off 2"/>
          <p:cNvSpPr/>
          <p:nvPr/>
        </p:nvSpPr>
        <p:spPr>
          <a:xfrm>
            <a:off x="4474159" y="2084832"/>
            <a:ext cx="201168" cy="329184"/>
          </a:xfrm>
          <a:prstGeom prst="chevron">
            <a:avLst/>
          </a:prstGeom>
          <a:solidFill>
            <a:schemeClr val="accent1"/>
          </a:solidFill>
          <a:ln w="12700">
            <a:solidFill>
              <a:schemeClr val="accent1"/>
            </a:solidFill>
            <a:prstDash val="solid"/>
          </a:ln>
        </p:spPr>
      </p:sp>
      <p:sp>
        <p:nvSpPr>
          <p:cNvPr id="25" name="Question Generator card"/>
          <p:cNvSpPr/>
          <p:nvPr/>
        </p:nvSpPr>
        <p:spPr>
          <a:xfrm>
            <a:off x="4723790" y="1143000"/>
            <a:ext cx="1828800" cy="2240280"/>
          </a:xfrm>
          <a:prstGeom prst="roundRect">
            <a:avLst>
              <a:gd name="adj" fmla="val 6000"/>
            </a:avLst>
          </a:prstGeom>
          <a:solidFill>
            <a:schemeClr val="bg1"/>
          </a:solidFill>
          <a:ln w="12700">
            <a:solidFill>
              <a:schemeClr val="bg1"/>
            </a:solidFill>
            <a:prstDash val="solid"/>
          </a:ln>
          <a:effectLst>
            <a:outerShdw sx="100000" sy="100000" kx="0" ky="0" algn="bl" rotWithShape="0" blurRad="114300" dist="25400" dir="5400000">
              <a:srgbClr val="142238">
                <a:alpha val="13000"/>
              </a:srgbClr>
            </a:outerShdw>
          </a:effectLst>
        </p:spPr>
      </p:sp>
      <p:sp>
        <p:nvSpPr>
          <p:cNvPr id="26" name="Question Generator icon circle"/>
          <p:cNvSpPr/>
          <p:nvPr/>
        </p:nvSpPr>
        <p:spPr>
          <a:xfrm>
            <a:off x="4888382" y="1280160"/>
            <a:ext cx="502920" cy="502920"/>
          </a:xfrm>
          <a:prstGeom prst="ellipse">
            <a:avLst/>
          </a:prstGeom>
          <a:solidFill>
            <a:schemeClr val="accent1"/>
          </a:solidFill>
          <a:ln w="12700">
            <a:solidFill>
              <a:schemeClr val="accent1"/>
            </a:solidFill>
            <a:prstDash val="solid"/>
          </a:ln>
        </p:spPr>
      </p:sp>
      <p:pic>
        <p:nvPicPr>
          <p:cNvPr id="27" name="Question Generator icon" descr="Question Generator">    </p:cNvPr>
          <p:cNvPicPr>
            <a:picLocks noChangeAspect="1"/>
          </p:cNvPicPr>
          <p:nvPr/>
        </p:nvPicPr>
        <p:blipFill>
          <a:blip r:embed="rId3"/>
          <a:stretch>
            <a:fillRect/>
          </a:stretch>
        </p:blipFill>
        <p:spPr>
          <a:xfrm>
            <a:off x="5014112" y="1405890"/>
            <a:ext cx="251460" cy="251460"/>
          </a:xfrm>
          <a:prstGeom prst="rect">
            <a:avLst/>
          </a:prstGeom>
        </p:spPr>
      </p:pic>
      <p:sp>
        <p:nvSpPr>
          <p:cNvPr id="28" name="Question Generator number"/>
          <p:cNvSpPr txBox="1"/>
          <p:nvPr/>
        </p:nvSpPr>
        <p:spPr>
          <a:xfrm>
            <a:off x="6049670" y="1280160"/>
            <a:ext cx="338328" cy="338328"/>
          </a:xfrm>
          <a:prstGeom prst="rect">
            <a:avLst/>
          </a:prstGeom>
          <a:noFill/>
          <a:ln/>
        </p:spPr>
        <p:txBody>
          <a:bodyPr wrap="square" lIns="0" tIns="0" rIns="0" bIns="0" rtlCol="0" anchor="ctr"/>
          <a:lstStyle/>
          <a:p>
            <a:pPr algn="ctr" indent="0" marL="0">
              <a:buNone/>
            </a:pPr>
            <a:r>
              <a:rPr lang="en-US" sz="1300" b="1" dirty="0">
                <a:solidFill>
                  <a:schemeClr val="accent6"/>
                </a:solidFill>
              </a:rPr>
              <a:t>3</a:t>
            </a:r>
            <a:endParaRPr lang="en-US" sz="1300" dirty="0"/>
          </a:p>
        </p:txBody>
      </p:sp>
      <p:sp>
        <p:nvSpPr>
          <p:cNvPr id="29" name="Question Generator name"/>
          <p:cNvSpPr txBox="1"/>
          <p:nvPr/>
        </p:nvSpPr>
        <p:spPr>
          <a:xfrm>
            <a:off x="4888382" y="1874520"/>
            <a:ext cx="1554480" cy="457200"/>
          </a:xfrm>
          <a:prstGeom prst="rect">
            <a:avLst/>
          </a:prstGeom>
          <a:noFill/>
          <a:ln/>
        </p:spPr>
        <p:txBody>
          <a:bodyPr wrap="square" lIns="0" tIns="0" rIns="0" bIns="0" rtlCol="0" anchor="t"/>
          <a:lstStyle/>
          <a:p>
            <a:pPr indent="0" marL="0">
              <a:buNone/>
            </a:pPr>
            <a:r>
              <a:rPr lang="en-US" sz="1500" b="1" dirty="0">
                <a:solidFill>
                  <a:schemeClr val="tx2"/>
                </a:solidFill>
              </a:rPr>
              <a:t>Question Generator</a:t>
            </a:r>
            <a:endParaRPr lang="en-US" sz="1500" dirty="0"/>
          </a:p>
        </p:txBody>
      </p:sp>
      <p:sp>
        <p:nvSpPr>
          <p:cNvPr id="30" name="Question Generator output"/>
          <p:cNvSpPr txBox="1"/>
          <p:nvPr/>
        </p:nvSpPr>
        <p:spPr>
          <a:xfrm>
            <a:off x="4888382" y="2331720"/>
            <a:ext cx="1554480" cy="411480"/>
          </a:xfrm>
          <a:prstGeom prst="rect">
            <a:avLst/>
          </a:prstGeom>
          <a:noFill/>
          <a:ln/>
        </p:spPr>
        <p:txBody>
          <a:bodyPr wrap="square" lIns="0" tIns="0" rIns="0" bIns="0" rtlCol="0" anchor="t"/>
          <a:lstStyle/>
          <a:p>
            <a:pPr indent="0" marL="0">
              <a:buNone/>
            </a:pPr>
            <a:r>
              <a:rPr lang="en-US" sz="1200" dirty="0">
                <a:solidFill>
                  <a:schemeClr val="accent6"/>
                </a:solidFill>
              </a:rPr>
              <a:t>10 likely questions</a:t>
            </a:r>
            <a:endParaRPr lang="en-US" sz="1200" dirty="0"/>
          </a:p>
        </p:txBody>
      </p:sp>
      <p:sp>
        <p:nvSpPr>
          <p:cNvPr id="31" name="Question Generator tool 1 chip"/>
          <p:cNvSpPr/>
          <p:nvPr/>
        </p:nvSpPr>
        <p:spPr>
          <a:xfrm>
            <a:off x="4888382" y="2788920"/>
            <a:ext cx="1499616" cy="228600"/>
          </a:xfrm>
          <a:prstGeom prst="roundRect">
            <a:avLst>
              <a:gd name="adj" fmla="val 32000"/>
            </a:avLst>
          </a:prstGeom>
          <a:solidFill>
            <a:schemeClr val="bg2"/>
          </a:solidFill>
          <a:ln w="12700">
            <a:solidFill>
              <a:schemeClr val="bg2"/>
            </a:solidFill>
            <a:prstDash val="solid"/>
          </a:ln>
        </p:spPr>
      </p:sp>
      <p:sp>
        <p:nvSpPr>
          <p:cNvPr id="32" name="Question Generator tool 1 chip text"/>
          <p:cNvSpPr txBox="1"/>
          <p:nvPr/>
        </p:nvSpPr>
        <p:spPr>
          <a:xfrm>
            <a:off x="4888382" y="2788920"/>
            <a:ext cx="1499616" cy="228600"/>
          </a:xfrm>
          <a:prstGeom prst="rect">
            <a:avLst/>
          </a:prstGeom>
          <a:noFill/>
          <a:ln/>
        </p:spPr>
        <p:txBody>
          <a:bodyPr wrap="square" lIns="0" tIns="0" rIns="0" bIns="0" rtlCol="0" anchor="ctr"/>
          <a:lstStyle/>
          <a:p>
            <a:pPr algn="ctr" indent="0" marL="0">
              <a:buNone/>
            </a:pPr>
            <a:r>
              <a:rPr lang="en-US" sz="1000" b="1" dirty="0">
                <a:solidFill>
                  <a:schemeClr val="tx2"/>
                </a:solidFill>
                <a:latin typeface="Courier New" pitchFamily="34" charset="0"/>
                <a:ea typeface="Courier New" pitchFamily="34" charset="-122"/>
                <a:cs typeface="Courier New" pitchFamily="34" charset="-120"/>
              </a:rPr>
              <a:t>reasoning only</a:t>
            </a:r>
            <a:endParaRPr lang="en-US" sz="1000" dirty="0"/>
          </a:p>
        </p:txBody>
      </p:sp>
      <p:sp>
        <p:nvSpPr>
          <p:cNvPr id="33" name="Hand-off 3"/>
          <p:cNvSpPr/>
          <p:nvPr/>
        </p:nvSpPr>
        <p:spPr>
          <a:xfrm>
            <a:off x="6607454" y="2084832"/>
            <a:ext cx="201168" cy="329184"/>
          </a:xfrm>
          <a:prstGeom prst="chevron">
            <a:avLst/>
          </a:prstGeom>
          <a:solidFill>
            <a:schemeClr val="accent1"/>
          </a:solidFill>
          <a:ln w="12700">
            <a:solidFill>
              <a:schemeClr val="accent1"/>
            </a:solidFill>
            <a:prstDash val="solid"/>
          </a:ln>
        </p:spPr>
      </p:sp>
      <p:sp>
        <p:nvSpPr>
          <p:cNvPr id="34" name="Answer Coach card"/>
          <p:cNvSpPr/>
          <p:nvPr/>
        </p:nvSpPr>
        <p:spPr>
          <a:xfrm>
            <a:off x="6857086" y="1143000"/>
            <a:ext cx="1828800" cy="2240280"/>
          </a:xfrm>
          <a:prstGeom prst="roundRect">
            <a:avLst>
              <a:gd name="adj" fmla="val 6000"/>
            </a:avLst>
          </a:prstGeom>
          <a:solidFill>
            <a:schemeClr val="bg1"/>
          </a:solidFill>
          <a:ln w="12700">
            <a:solidFill>
              <a:schemeClr val="bg1"/>
            </a:solidFill>
            <a:prstDash val="solid"/>
          </a:ln>
          <a:effectLst>
            <a:outerShdw sx="100000" sy="100000" kx="0" ky="0" algn="bl" rotWithShape="0" blurRad="114300" dist="25400" dir="5400000">
              <a:srgbClr val="142238">
                <a:alpha val="13000"/>
              </a:srgbClr>
            </a:outerShdw>
          </a:effectLst>
        </p:spPr>
      </p:sp>
      <p:sp>
        <p:nvSpPr>
          <p:cNvPr id="35" name="Answer Coach icon circle"/>
          <p:cNvSpPr/>
          <p:nvPr/>
        </p:nvSpPr>
        <p:spPr>
          <a:xfrm>
            <a:off x="7021678" y="1280160"/>
            <a:ext cx="502920" cy="502920"/>
          </a:xfrm>
          <a:prstGeom prst="ellipse">
            <a:avLst/>
          </a:prstGeom>
          <a:solidFill>
            <a:schemeClr val="accent1"/>
          </a:solidFill>
          <a:ln w="12700">
            <a:solidFill>
              <a:schemeClr val="accent1"/>
            </a:solidFill>
            <a:prstDash val="solid"/>
          </a:ln>
        </p:spPr>
      </p:sp>
      <p:pic>
        <p:nvPicPr>
          <p:cNvPr id="36" name="Answer Coach icon" descr="Answer Coach">    </p:cNvPr>
          <p:cNvPicPr>
            <a:picLocks noChangeAspect="1"/>
          </p:cNvPicPr>
          <p:nvPr/>
        </p:nvPicPr>
        <p:blipFill>
          <a:blip r:embed="rId4"/>
          <a:stretch>
            <a:fillRect/>
          </a:stretch>
        </p:blipFill>
        <p:spPr>
          <a:xfrm>
            <a:off x="7147408" y="1405890"/>
            <a:ext cx="251460" cy="251460"/>
          </a:xfrm>
          <a:prstGeom prst="rect">
            <a:avLst/>
          </a:prstGeom>
        </p:spPr>
      </p:pic>
      <p:sp>
        <p:nvSpPr>
          <p:cNvPr id="37" name="Answer Coach number"/>
          <p:cNvSpPr txBox="1"/>
          <p:nvPr/>
        </p:nvSpPr>
        <p:spPr>
          <a:xfrm>
            <a:off x="8182966" y="1280160"/>
            <a:ext cx="338328" cy="338328"/>
          </a:xfrm>
          <a:prstGeom prst="rect">
            <a:avLst/>
          </a:prstGeom>
          <a:noFill/>
          <a:ln/>
        </p:spPr>
        <p:txBody>
          <a:bodyPr wrap="square" lIns="0" tIns="0" rIns="0" bIns="0" rtlCol="0" anchor="ctr"/>
          <a:lstStyle/>
          <a:p>
            <a:pPr algn="ctr" indent="0" marL="0">
              <a:buNone/>
            </a:pPr>
            <a:r>
              <a:rPr lang="en-US" sz="1300" b="1" dirty="0">
                <a:solidFill>
                  <a:schemeClr val="accent6"/>
                </a:solidFill>
              </a:rPr>
              <a:t>4</a:t>
            </a:r>
            <a:endParaRPr lang="en-US" sz="1300" dirty="0"/>
          </a:p>
        </p:txBody>
      </p:sp>
      <p:sp>
        <p:nvSpPr>
          <p:cNvPr id="38" name="Answer Coach name"/>
          <p:cNvSpPr txBox="1"/>
          <p:nvPr/>
        </p:nvSpPr>
        <p:spPr>
          <a:xfrm>
            <a:off x="7021678" y="1874520"/>
            <a:ext cx="1554480" cy="457200"/>
          </a:xfrm>
          <a:prstGeom prst="rect">
            <a:avLst/>
          </a:prstGeom>
          <a:noFill/>
          <a:ln/>
        </p:spPr>
        <p:txBody>
          <a:bodyPr wrap="square" lIns="0" tIns="0" rIns="0" bIns="0" rtlCol="0" anchor="t"/>
          <a:lstStyle/>
          <a:p>
            <a:pPr indent="0" marL="0">
              <a:buNone/>
            </a:pPr>
            <a:r>
              <a:rPr lang="en-US" sz="1500" b="1" dirty="0">
                <a:solidFill>
                  <a:schemeClr val="tx2"/>
                </a:solidFill>
              </a:rPr>
              <a:t>Answer Coach</a:t>
            </a:r>
            <a:endParaRPr lang="en-US" sz="1500" dirty="0"/>
          </a:p>
        </p:txBody>
      </p:sp>
      <p:sp>
        <p:nvSpPr>
          <p:cNvPr id="39" name="Answer Coach output"/>
          <p:cNvSpPr txBox="1"/>
          <p:nvPr/>
        </p:nvSpPr>
        <p:spPr>
          <a:xfrm>
            <a:off x="7021678" y="2331720"/>
            <a:ext cx="1554480" cy="411480"/>
          </a:xfrm>
          <a:prstGeom prst="rect">
            <a:avLst/>
          </a:prstGeom>
          <a:noFill/>
          <a:ln/>
        </p:spPr>
        <p:txBody>
          <a:bodyPr wrap="square" lIns="0" tIns="0" rIns="0" bIns="0" rtlCol="0" anchor="t"/>
          <a:lstStyle/>
          <a:p>
            <a:pPr indent="0" marL="0">
              <a:buNone/>
            </a:pPr>
            <a:r>
              <a:rPr lang="en-US" sz="1200" dirty="0">
                <a:solidFill>
                  <a:schemeClr val="accent6"/>
                </a:solidFill>
              </a:rPr>
              <a:t>Answers, tips, 5-day plan</a:t>
            </a:r>
            <a:endParaRPr lang="en-US" sz="1200" dirty="0"/>
          </a:p>
        </p:txBody>
      </p:sp>
      <p:sp>
        <p:nvSpPr>
          <p:cNvPr id="40" name="Answer Coach tool 1 chip"/>
          <p:cNvSpPr/>
          <p:nvPr/>
        </p:nvSpPr>
        <p:spPr>
          <a:xfrm>
            <a:off x="7021678" y="2788920"/>
            <a:ext cx="1499616" cy="228600"/>
          </a:xfrm>
          <a:prstGeom prst="roundRect">
            <a:avLst>
              <a:gd name="adj" fmla="val 32000"/>
            </a:avLst>
          </a:prstGeom>
          <a:solidFill>
            <a:schemeClr val="bg2"/>
          </a:solidFill>
          <a:ln w="12700">
            <a:solidFill>
              <a:schemeClr val="bg2"/>
            </a:solidFill>
            <a:prstDash val="solid"/>
          </a:ln>
        </p:spPr>
      </p:sp>
      <p:sp>
        <p:nvSpPr>
          <p:cNvPr id="41" name="Answer Coach tool 1 chip text"/>
          <p:cNvSpPr txBox="1"/>
          <p:nvPr/>
        </p:nvSpPr>
        <p:spPr>
          <a:xfrm>
            <a:off x="7021678" y="2788920"/>
            <a:ext cx="1499616" cy="228600"/>
          </a:xfrm>
          <a:prstGeom prst="rect">
            <a:avLst/>
          </a:prstGeom>
          <a:noFill/>
          <a:ln/>
        </p:spPr>
        <p:txBody>
          <a:bodyPr wrap="square" lIns="0" tIns="0" rIns="0" bIns="0" rtlCol="0" anchor="ctr"/>
          <a:lstStyle/>
          <a:p>
            <a:pPr algn="ctr" indent="0" marL="0">
              <a:buNone/>
            </a:pPr>
            <a:r>
              <a:rPr lang="en-US" sz="1000" b="1" dirty="0">
                <a:solidFill>
                  <a:schemeClr val="tx2"/>
                </a:solidFill>
                <a:latin typeface="Courier New" pitchFamily="34" charset="0"/>
                <a:ea typeface="Courier New" pitchFamily="34" charset="-122"/>
                <a:cs typeface="Courier New" pitchFamily="34" charset="-120"/>
              </a:rPr>
              <a:t>reasoning only</a:t>
            </a:r>
            <a:endParaRPr lang="en-US" sz="1000" dirty="0"/>
          </a:p>
        </p:txBody>
      </p:sp>
      <p:sp>
        <p:nvSpPr>
          <p:cNvPr id="42" name="Sequential caption"/>
          <p:cNvSpPr txBox="1"/>
          <p:nvPr/>
        </p:nvSpPr>
        <p:spPr>
          <a:xfrm>
            <a:off x="457200" y="3447288"/>
            <a:ext cx="8229600" cy="256032"/>
          </a:xfrm>
          <a:prstGeom prst="rect">
            <a:avLst/>
          </a:prstGeom>
          <a:noFill/>
          <a:ln/>
        </p:spPr>
        <p:txBody>
          <a:bodyPr wrap="square" lIns="0" tIns="0" rIns="0" bIns="0" rtlCol="0" anchor="ctr"/>
          <a:lstStyle/>
          <a:p>
            <a:pPr algn="ctr" indent="0" marL="0">
              <a:buNone/>
            </a:pPr>
            <a:r>
              <a:rPr lang="en-US" sz="1200" i="1" dirty="0">
                <a:solidFill>
                  <a:schemeClr val="accent6"/>
                </a:solidFill>
              </a:rPr>
              <a:t>Sequential process: every agent receives the earlier agents’ outputs as context</a:t>
            </a:r>
            <a:endParaRPr lang="en-US" sz="1200" dirty="0"/>
          </a:p>
        </p:txBody>
      </p:sp>
      <p:sp>
        <p:nvSpPr>
          <p:cNvPr id="43" name="ATS reviewer card"/>
          <p:cNvSpPr/>
          <p:nvPr/>
        </p:nvSpPr>
        <p:spPr>
          <a:xfrm>
            <a:off x="457200" y="3767328"/>
            <a:ext cx="8229600" cy="877824"/>
          </a:xfrm>
          <a:prstGeom prst="roundRect">
            <a:avLst>
              <a:gd name="adj" fmla="val 12500"/>
            </a:avLst>
          </a:prstGeom>
          <a:solidFill>
            <a:schemeClr val="bg1"/>
          </a:solidFill>
          <a:ln w="12700">
            <a:solidFill>
              <a:schemeClr val="bg1"/>
            </a:solidFill>
            <a:prstDash val="solid"/>
          </a:ln>
          <a:effectLst>
            <a:outerShdw sx="100000" sy="100000" kx="0" ky="0" algn="bl" rotWithShape="0" blurRad="114300" dist="25400" dir="5400000">
              <a:srgbClr val="142238">
                <a:alpha val="13000"/>
              </a:srgbClr>
            </a:outerShdw>
          </a:effectLst>
        </p:spPr>
      </p:sp>
      <p:sp>
        <p:nvSpPr>
          <p:cNvPr id="44" name="ATS Resume Reviewer icon circle"/>
          <p:cNvSpPr/>
          <p:nvPr/>
        </p:nvSpPr>
        <p:spPr>
          <a:xfrm>
            <a:off x="658368" y="3959352"/>
            <a:ext cx="502920" cy="502920"/>
          </a:xfrm>
          <a:prstGeom prst="ellipse">
            <a:avLst/>
          </a:prstGeom>
          <a:solidFill>
            <a:schemeClr val="accent3"/>
          </a:solidFill>
          <a:ln w="12700">
            <a:solidFill>
              <a:schemeClr val="accent3"/>
            </a:solidFill>
            <a:prstDash val="solid"/>
          </a:ln>
        </p:spPr>
      </p:sp>
      <p:pic>
        <p:nvPicPr>
          <p:cNvPr id="45" name="ATS Resume Reviewer icon" descr="ATS Resume Reviewer">    </p:cNvPr>
          <p:cNvPicPr>
            <a:picLocks noChangeAspect="1"/>
          </p:cNvPicPr>
          <p:nvPr/>
        </p:nvPicPr>
        <p:blipFill>
          <a:blip r:embed="rId5"/>
          <a:stretch>
            <a:fillRect/>
          </a:stretch>
        </p:blipFill>
        <p:spPr>
          <a:xfrm>
            <a:off x="784098" y="4085082"/>
            <a:ext cx="251460" cy="251460"/>
          </a:xfrm>
          <a:prstGeom prst="rect">
            <a:avLst/>
          </a:prstGeom>
        </p:spPr>
      </p:pic>
      <p:sp>
        <p:nvSpPr>
          <p:cNvPr id="46" name="ATS reviewer text"/>
          <p:cNvSpPr txBox="1"/>
          <p:nvPr/>
        </p:nvSpPr>
        <p:spPr>
          <a:xfrm>
            <a:off x="1371600" y="3767328"/>
            <a:ext cx="7132320" cy="877824"/>
          </a:xfrm>
          <a:prstGeom prst="rect">
            <a:avLst/>
          </a:prstGeom>
          <a:noFill/>
          <a:ln/>
        </p:spPr>
        <p:txBody>
          <a:bodyPr wrap="square" lIns="0" tIns="0" rIns="0" bIns="0" rtlCol="0" anchor="ctr"/>
          <a:lstStyle/>
          <a:p>
            <a:pPr indent="0" marL="0">
              <a:buNone/>
            </a:pPr>
            <a:r>
              <a:rPr lang="en-US" sz="1500" b="1" dirty="0">
                <a:solidFill>
                  <a:schemeClr val="tx2"/>
                </a:solidFill>
              </a:rPr>
              <a:t>ATS Resume Reviewer</a:t>
            </a:r>
            <a:endParaRPr lang="en-US" sz="1500" dirty="0"/>
          </a:p>
          <a:p>
            <a:pPr indent="0" marL="0">
              <a:buNone/>
            </a:pPr>
            <a:r>
              <a:rPr lang="en-US" sz="1200" dirty="0">
                <a:solidFill>
                  <a:schemeClr val="tx1"/>
                </a:solidFill>
              </a:rPr>
              <a:t>Starts from the rule-based score and rewrites only bullets that exist; unknown numbers become [add metric]</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ATS Scoring and Privacy</a:t>
            </a:r>
            <a:endParaRPr lang="en-US" sz="3000" dirty="0"/>
          </a:p>
        </p:txBody>
      </p:sp>
      <p:sp>
        <p:nvSpPr>
          <p:cNvPr id="3" name="ATS chart card"/>
          <p:cNvSpPr/>
          <p:nvPr/>
        </p:nvSpPr>
        <p:spPr>
          <a:xfrm>
            <a:off x="457200" y="1143000"/>
            <a:ext cx="4480560" cy="3474720"/>
          </a:xfrm>
          <a:prstGeom prst="roundRect">
            <a:avLst>
              <a:gd name="adj" fmla="val 3158"/>
            </a:avLst>
          </a:prstGeom>
          <a:solidFill>
            <a:schemeClr val="bg1"/>
          </a:solidFill>
          <a:ln w="12700">
            <a:solidFill>
              <a:schemeClr val="bg1"/>
            </a:solidFill>
            <a:prstDash val="solid"/>
          </a:ln>
          <a:effectLst>
            <a:outerShdw sx="100000" sy="100000" kx="0" ky="0" algn="bl" rotWithShape="0" blurRad="114300" dist="25400" dir="5400000">
              <a:srgbClr val="142238">
                <a:alpha val="13000"/>
              </a:srgbClr>
            </a:outerShdw>
          </a:effectLst>
        </p:spPr>
      </p:sp>
      <p:sp>
        <p:nvSpPr>
          <p:cNvPr id="4" name="Chart heading"/>
          <p:cNvSpPr txBox="1"/>
          <p:nvPr/>
        </p:nvSpPr>
        <p:spPr>
          <a:xfrm>
            <a:off x="685800" y="1243584"/>
            <a:ext cx="4023360" cy="320040"/>
          </a:xfrm>
          <a:prstGeom prst="rect">
            <a:avLst/>
          </a:prstGeom>
          <a:noFill/>
          <a:ln/>
        </p:spPr>
        <p:txBody>
          <a:bodyPr wrap="square" lIns="0" tIns="0" rIns="0" bIns="0" rtlCol="0" anchor="ctr"/>
          <a:lstStyle/>
          <a:p>
            <a:pPr indent="0" marL="0">
              <a:buNone/>
            </a:pPr>
            <a:r>
              <a:rPr lang="en-US" sz="1600" b="1" dirty="0">
                <a:solidFill>
                  <a:schemeClr val="tx2"/>
                </a:solidFill>
              </a:rPr>
              <a:t>ATS score areas (100 points)</a:t>
            </a:r>
            <a:endParaRPr lang="en-US" sz="1600" dirty="0"/>
          </a:p>
        </p:txBody>
      </p:sp>
      <p:graphicFrame>
        <p:nvGraphicFramePr>
          <p:cNvPr id="5" name="Chart 0" descr=""/>
          <p:cNvGraphicFramePr/>
          <p:nvPr/>
        </p:nvGraphicFramePr>
        <p:xfrm>
          <a:off x="594360" y="1600200"/>
          <a:ext cx="4206240" cy="2423160"/>
        </p:xfrm>
        <a:graphic xmlns:a="http://schemas.openxmlformats.org/drawingml/2006/main">
          <a:graphicData uri="http://schemas.openxmlformats.org/drawingml/2006/chart">
            <c:chart xmlns:c="http://schemas.openxmlformats.org/drawingml/2006/chart" r:id="rId1"/>
          </a:graphicData>
        </a:graphic>
      </p:graphicFrame>
      <p:sp>
        <p:nvSpPr>
          <p:cNvPr id="6" name="Rescale note"/>
          <p:cNvSpPr txBox="1"/>
          <p:nvPr/>
        </p:nvSpPr>
        <p:spPr>
          <a:xfrm>
            <a:off x="685800" y="4041648"/>
            <a:ext cx="4023360" cy="502920"/>
          </a:xfrm>
          <a:prstGeom prst="rect">
            <a:avLst/>
          </a:prstGeom>
          <a:noFill/>
          <a:ln/>
        </p:spPr>
        <p:txBody>
          <a:bodyPr wrap="square" lIns="0" tIns="0" rIns="0" bIns="0" rtlCol="0" anchor="t"/>
          <a:lstStyle/>
          <a:p>
            <a:pPr indent="0" marL="0">
              <a:buNone/>
            </a:pPr>
            <a:r>
              <a:rPr lang="en-US" sz="1200" dirty="0">
                <a:solidFill>
                  <a:schemeClr val="accent6"/>
                </a:solidFill>
              </a:rPr>
              <a:t>No job description? The keyword area is skipped and the rest is rescaled to 100.</a:t>
            </a:r>
            <a:endParaRPr lang="en-US" sz="1200" dirty="0"/>
          </a:p>
        </p:txBody>
      </p:sp>
      <p:sp>
        <p:nvSpPr>
          <p:cNvPr id="7" name="Personalised card"/>
          <p:cNvSpPr/>
          <p:nvPr/>
        </p:nvSpPr>
        <p:spPr>
          <a:xfrm>
            <a:off x="5166360" y="1143000"/>
            <a:ext cx="3520440" cy="1097280"/>
          </a:xfrm>
          <a:prstGeom prst="roundRect">
            <a:avLst>
              <a:gd name="adj" fmla="val 10000"/>
            </a:avLst>
          </a:prstGeom>
          <a:solidFill>
            <a:schemeClr val="bg1"/>
          </a:solidFill>
          <a:ln w="12700">
            <a:solidFill>
              <a:schemeClr val="bg1"/>
            </a:solidFill>
            <a:prstDash val="solid"/>
          </a:ln>
          <a:effectLst>
            <a:outerShdw sx="100000" sy="100000" kx="0" ky="0" algn="bl" rotWithShape="0" blurRad="114300" dist="25400" dir="5400000">
              <a:srgbClr val="142238">
                <a:alpha val="13000"/>
              </a:srgbClr>
            </a:outerShdw>
          </a:effectLst>
        </p:spPr>
      </p:sp>
      <p:sp>
        <p:nvSpPr>
          <p:cNvPr id="8" name="Personalised icon circle"/>
          <p:cNvSpPr/>
          <p:nvPr/>
        </p:nvSpPr>
        <p:spPr>
          <a:xfrm>
            <a:off x="5349240" y="1444752"/>
            <a:ext cx="502920" cy="502920"/>
          </a:xfrm>
          <a:prstGeom prst="ellipse">
            <a:avLst/>
          </a:prstGeom>
          <a:solidFill>
            <a:schemeClr val="accent1"/>
          </a:solidFill>
          <a:ln w="12700">
            <a:solidFill>
              <a:schemeClr val="accent1"/>
            </a:solidFill>
            <a:prstDash val="solid"/>
          </a:ln>
        </p:spPr>
      </p:sp>
      <p:pic>
        <p:nvPicPr>
          <p:cNvPr id="9" name="Personalised icon" descr="Personalised">    </p:cNvPr>
          <p:cNvPicPr>
            <a:picLocks noChangeAspect="1"/>
          </p:cNvPicPr>
          <p:nvPr/>
        </p:nvPicPr>
        <p:blipFill>
          <a:blip r:embed="rId2"/>
          <a:stretch>
            <a:fillRect/>
          </a:stretch>
        </p:blipFill>
        <p:spPr>
          <a:xfrm>
            <a:off x="5474970" y="1570482"/>
            <a:ext cx="251460" cy="251460"/>
          </a:xfrm>
          <a:prstGeom prst="rect">
            <a:avLst/>
          </a:prstGeom>
        </p:spPr>
      </p:pic>
      <p:sp>
        <p:nvSpPr>
          <p:cNvPr id="10" name="Personalised text"/>
          <p:cNvSpPr txBox="1"/>
          <p:nvPr/>
        </p:nvSpPr>
        <p:spPr>
          <a:xfrm>
            <a:off x="5989320" y="1143000"/>
            <a:ext cx="2606040" cy="1097280"/>
          </a:xfrm>
          <a:prstGeom prst="rect">
            <a:avLst/>
          </a:prstGeom>
          <a:noFill/>
          <a:ln/>
        </p:spPr>
        <p:txBody>
          <a:bodyPr wrap="square" lIns="0" tIns="0" rIns="0" bIns="0" rtlCol="0" anchor="ctr"/>
          <a:lstStyle/>
          <a:p>
            <a:pPr indent="0" marL="0">
              <a:buNone/>
            </a:pPr>
            <a:r>
              <a:rPr lang="en-US" sz="1500" b="1" dirty="0">
                <a:solidFill>
                  <a:schemeClr val="tx2"/>
                </a:solidFill>
              </a:rPr>
              <a:t>Personalised</a:t>
            </a:r>
            <a:endParaRPr lang="en-US" sz="1500" dirty="0"/>
          </a:p>
          <a:p>
            <a:pPr indent="0" marL="0">
              <a:buNone/>
            </a:pPr>
            <a:r>
              <a:rPr lang="en-US" sz="1200" dirty="0">
                <a:solidFill>
                  <a:schemeClr val="tx1"/>
                </a:solidFill>
              </a:rPr>
              <a:t>Upload a PDF, DOCX or TXT: questions marked “From your resume”</a:t>
            </a:r>
            <a:endParaRPr lang="en-US" sz="1500" dirty="0"/>
          </a:p>
        </p:txBody>
      </p:sp>
      <p:sp>
        <p:nvSpPr>
          <p:cNvPr id="11" name="AI review card"/>
          <p:cNvSpPr/>
          <p:nvPr/>
        </p:nvSpPr>
        <p:spPr>
          <a:xfrm>
            <a:off x="5166360" y="2331720"/>
            <a:ext cx="3520440" cy="1097280"/>
          </a:xfrm>
          <a:prstGeom prst="roundRect">
            <a:avLst>
              <a:gd name="adj" fmla="val 10000"/>
            </a:avLst>
          </a:prstGeom>
          <a:solidFill>
            <a:schemeClr val="bg1"/>
          </a:solidFill>
          <a:ln w="12700">
            <a:solidFill>
              <a:schemeClr val="bg1"/>
            </a:solidFill>
            <a:prstDash val="solid"/>
          </a:ln>
          <a:effectLst>
            <a:outerShdw sx="100000" sy="100000" kx="0" ky="0" algn="bl" rotWithShape="0" blurRad="114300" dist="25400" dir="5400000">
              <a:srgbClr val="142238">
                <a:alpha val="13000"/>
              </a:srgbClr>
            </a:outerShdw>
          </a:effectLst>
        </p:spPr>
      </p:sp>
      <p:sp>
        <p:nvSpPr>
          <p:cNvPr id="12" name="AI review icon circle"/>
          <p:cNvSpPr/>
          <p:nvPr/>
        </p:nvSpPr>
        <p:spPr>
          <a:xfrm>
            <a:off x="5349240" y="2633472"/>
            <a:ext cx="502920" cy="502920"/>
          </a:xfrm>
          <a:prstGeom prst="ellipse">
            <a:avLst/>
          </a:prstGeom>
          <a:solidFill>
            <a:schemeClr val="accent2"/>
          </a:solidFill>
          <a:ln w="12700">
            <a:solidFill>
              <a:schemeClr val="accent2"/>
            </a:solidFill>
            <a:prstDash val="solid"/>
          </a:ln>
        </p:spPr>
      </p:sp>
      <p:pic>
        <p:nvPicPr>
          <p:cNvPr id="13" name="AI review icon" descr="AI review">    </p:cNvPr>
          <p:cNvPicPr>
            <a:picLocks noChangeAspect="1"/>
          </p:cNvPicPr>
          <p:nvPr/>
        </p:nvPicPr>
        <p:blipFill>
          <a:blip r:embed="rId3"/>
          <a:stretch>
            <a:fillRect/>
          </a:stretch>
        </p:blipFill>
        <p:spPr>
          <a:xfrm>
            <a:off x="5474970" y="2759202"/>
            <a:ext cx="251460" cy="251460"/>
          </a:xfrm>
          <a:prstGeom prst="rect">
            <a:avLst/>
          </a:prstGeom>
        </p:spPr>
      </p:pic>
      <p:sp>
        <p:nvSpPr>
          <p:cNvPr id="14" name="AI review text"/>
          <p:cNvSpPr txBox="1"/>
          <p:nvPr/>
        </p:nvSpPr>
        <p:spPr>
          <a:xfrm>
            <a:off x="5989320" y="2331720"/>
            <a:ext cx="2606040" cy="1097280"/>
          </a:xfrm>
          <a:prstGeom prst="rect">
            <a:avLst/>
          </a:prstGeom>
          <a:noFill/>
          <a:ln/>
        </p:spPr>
        <p:txBody>
          <a:bodyPr wrap="square" lIns="0" tIns="0" rIns="0" bIns="0" rtlCol="0" anchor="ctr"/>
          <a:lstStyle/>
          <a:p>
            <a:pPr indent="0" marL="0">
              <a:buNone/>
            </a:pPr>
            <a:r>
              <a:rPr lang="en-US" sz="1500" b="1" dirty="0">
                <a:solidFill>
                  <a:schemeClr val="tx2"/>
                </a:solidFill>
              </a:rPr>
              <a:t>AI review</a:t>
            </a:r>
            <a:endParaRPr lang="en-US" sz="1500" dirty="0"/>
          </a:p>
          <a:p>
            <a:pPr indent="0" marL="0">
              <a:buNone/>
            </a:pPr>
            <a:r>
              <a:rPr lang="en-US" sz="1200" dirty="0">
                <a:solidFill>
                  <a:schemeClr val="tx1"/>
                </a:solidFill>
              </a:rPr>
              <a:t>Fixes ranked by score area, bullets rewritten from your own text</a:t>
            </a:r>
            <a:endParaRPr lang="en-US" sz="1500" dirty="0"/>
          </a:p>
        </p:txBody>
      </p:sp>
      <p:sp>
        <p:nvSpPr>
          <p:cNvPr id="15" name="Private by default card"/>
          <p:cNvSpPr/>
          <p:nvPr/>
        </p:nvSpPr>
        <p:spPr>
          <a:xfrm>
            <a:off x="5166360" y="3520440"/>
            <a:ext cx="3520440" cy="1097280"/>
          </a:xfrm>
          <a:prstGeom prst="roundRect">
            <a:avLst>
              <a:gd name="adj" fmla="val 10000"/>
            </a:avLst>
          </a:prstGeom>
          <a:solidFill>
            <a:schemeClr val="bg1"/>
          </a:solidFill>
          <a:ln w="12700">
            <a:solidFill>
              <a:schemeClr val="bg1"/>
            </a:solidFill>
            <a:prstDash val="solid"/>
          </a:ln>
          <a:effectLst>
            <a:outerShdw sx="100000" sy="100000" kx="0" ky="0" algn="bl" rotWithShape="0" blurRad="114300" dist="25400" dir="5400000">
              <a:srgbClr val="142238">
                <a:alpha val="13000"/>
              </a:srgbClr>
            </a:outerShdw>
          </a:effectLst>
        </p:spPr>
      </p:sp>
      <p:sp>
        <p:nvSpPr>
          <p:cNvPr id="16" name="Private by default icon circle"/>
          <p:cNvSpPr/>
          <p:nvPr/>
        </p:nvSpPr>
        <p:spPr>
          <a:xfrm>
            <a:off x="5349240" y="3822192"/>
            <a:ext cx="502920" cy="502920"/>
          </a:xfrm>
          <a:prstGeom prst="ellipse">
            <a:avLst/>
          </a:prstGeom>
          <a:solidFill>
            <a:schemeClr val="accent3"/>
          </a:solidFill>
          <a:ln w="12700">
            <a:solidFill>
              <a:schemeClr val="accent3"/>
            </a:solidFill>
            <a:prstDash val="solid"/>
          </a:ln>
        </p:spPr>
      </p:sp>
      <p:pic>
        <p:nvPicPr>
          <p:cNvPr id="17" name="Private by default icon" descr="Private by default">    </p:cNvPr>
          <p:cNvPicPr>
            <a:picLocks noChangeAspect="1"/>
          </p:cNvPicPr>
          <p:nvPr/>
        </p:nvPicPr>
        <p:blipFill>
          <a:blip r:embed="rId4"/>
          <a:stretch>
            <a:fillRect/>
          </a:stretch>
        </p:blipFill>
        <p:spPr>
          <a:xfrm>
            <a:off x="5474970" y="3947922"/>
            <a:ext cx="251460" cy="251460"/>
          </a:xfrm>
          <a:prstGeom prst="rect">
            <a:avLst/>
          </a:prstGeom>
        </p:spPr>
      </p:pic>
      <p:sp>
        <p:nvSpPr>
          <p:cNvPr id="18" name="Private by default text"/>
          <p:cNvSpPr txBox="1"/>
          <p:nvPr/>
        </p:nvSpPr>
        <p:spPr>
          <a:xfrm>
            <a:off x="5989320" y="3520440"/>
            <a:ext cx="2606040" cy="1097280"/>
          </a:xfrm>
          <a:prstGeom prst="rect">
            <a:avLst/>
          </a:prstGeom>
          <a:noFill/>
          <a:ln/>
        </p:spPr>
        <p:txBody>
          <a:bodyPr wrap="square" lIns="0" tIns="0" rIns="0" bIns="0" rtlCol="0" anchor="ctr"/>
          <a:lstStyle/>
          <a:p>
            <a:pPr indent="0" marL="0">
              <a:buNone/>
            </a:pPr>
            <a:r>
              <a:rPr lang="en-US" sz="1500" b="1" dirty="0">
                <a:solidFill>
                  <a:schemeClr val="tx2"/>
                </a:solidFill>
              </a:rPr>
              <a:t>Private by default</a:t>
            </a:r>
            <a:endParaRPr lang="en-US" sz="1500" dirty="0"/>
          </a:p>
          <a:p>
            <a:pPr indent="0" marL="0">
              <a:buNone/>
            </a:pPr>
            <a:r>
              <a:rPr lang="en-US" sz="1200" dirty="0">
                <a:solidFill>
                  <a:schemeClr val="tx1"/>
                </a:solidFill>
              </a:rPr>
              <a:t>Never saved to disk and hidden from the activity log</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The Application</a:t>
            </a:r>
            <a:endParaRPr lang="en-US" sz="3000" dirty="0"/>
          </a:p>
        </p:txBody>
      </p:sp>
      <p:sp>
        <p:nvSpPr>
          <p:cNvPr id="3" name="Interview prep screen frame"/>
          <p:cNvSpPr/>
          <p:nvPr/>
        </p:nvSpPr>
        <p:spPr>
          <a:xfrm>
            <a:off x="457200" y="1097280"/>
            <a:ext cx="5029200" cy="2606040"/>
          </a:xfrm>
          <a:prstGeom prst="roundRect">
            <a:avLst>
              <a:gd name="adj" fmla="val 4211"/>
            </a:avLst>
          </a:prstGeom>
          <a:solidFill>
            <a:schemeClr val="bg1"/>
          </a:solidFill>
          <a:ln w="12700">
            <a:solidFill>
              <a:schemeClr val="bg1"/>
            </a:solidFill>
            <a:prstDash val="solid"/>
          </a:ln>
          <a:effectLst>
            <a:outerShdw sx="100000" sy="100000" kx="0" ky="0" algn="bl" rotWithShape="0" blurRad="114300" dist="25400" dir="5400000">
              <a:srgbClr val="142238">
                <a:alpha val="13000"/>
              </a:srgbClr>
            </a:outerShdw>
          </a:effectLst>
        </p:spPr>
      </p:sp>
      <p:pic>
        <p:nvPicPr>
          <p:cNvPr id="4" name="Interview prep screenshot" descr="Interview prep screen with all four agents completed">    </p:cNvPr>
          <p:cNvPicPr>
            <a:picLocks noChangeAspect="1"/>
          </p:cNvPicPr>
          <p:nvPr/>
        </p:nvPicPr>
        <p:blipFill>
          <a:blip r:embed="rId1"/>
          <a:stretch>
            <a:fillRect/>
          </a:stretch>
        </p:blipFill>
        <p:spPr>
          <a:xfrm>
            <a:off x="502920" y="1143000"/>
            <a:ext cx="4937760" cy="2514600"/>
          </a:xfrm>
          <a:prstGeom prst="rect">
            <a:avLst/>
          </a:prstGeom>
        </p:spPr>
      </p:pic>
      <p:sp>
        <p:nvSpPr>
          <p:cNvPr id="5" name="Prep caption"/>
          <p:cNvSpPr txBox="1"/>
          <p:nvPr/>
        </p:nvSpPr>
        <p:spPr>
          <a:xfrm>
            <a:off x="457200" y="3749040"/>
            <a:ext cx="5029200" cy="274320"/>
          </a:xfrm>
          <a:prstGeom prst="rect">
            <a:avLst/>
          </a:prstGeom>
          <a:noFill/>
          <a:ln/>
        </p:spPr>
        <p:txBody>
          <a:bodyPr wrap="square" lIns="0" tIns="0" rIns="0" bIns="0" rtlCol="0" anchor="ctr"/>
          <a:lstStyle/>
          <a:p>
            <a:pPr indent="0" marL="0">
              <a:buNone/>
            </a:pPr>
            <a:r>
              <a:rPr lang="en-US" sz="1200" b="1" dirty="0">
                <a:solidFill>
                  <a:schemeClr val="tx2"/>
                </a:solidFill>
              </a:rPr>
              <a:t>Interview prep: the four agents, live and complete</a:t>
            </a:r>
            <a:endParaRPr lang="en-US" sz="1200" dirty="0"/>
          </a:p>
        </p:txBody>
      </p:sp>
      <p:sp>
        <p:nvSpPr>
          <p:cNvPr id="6" name="Feature chip 1"/>
          <p:cNvSpPr/>
          <p:nvPr/>
        </p:nvSpPr>
        <p:spPr>
          <a:xfrm>
            <a:off x="457200" y="4160520"/>
            <a:ext cx="1627632" cy="329184"/>
          </a:xfrm>
          <a:prstGeom prst="roundRect">
            <a:avLst>
              <a:gd name="adj" fmla="val 27778"/>
            </a:avLst>
          </a:prstGeom>
          <a:solidFill>
            <a:schemeClr val="bg1"/>
          </a:solidFill>
          <a:ln w="9525">
            <a:solidFill>
              <a:schemeClr val="accent1"/>
            </a:solidFill>
            <a:prstDash val="solid"/>
          </a:ln>
        </p:spPr>
      </p:sp>
      <p:sp>
        <p:nvSpPr>
          <p:cNvPr id="7" name="Feature chip 1 text"/>
          <p:cNvSpPr txBox="1"/>
          <p:nvPr/>
        </p:nvSpPr>
        <p:spPr>
          <a:xfrm>
            <a:off x="457200" y="4160520"/>
            <a:ext cx="1627632" cy="329184"/>
          </a:xfrm>
          <a:prstGeom prst="rect">
            <a:avLst/>
          </a:prstGeom>
          <a:noFill/>
          <a:ln/>
        </p:spPr>
        <p:txBody>
          <a:bodyPr wrap="square" lIns="0" tIns="0" rIns="0" bIns="0" rtlCol="0" anchor="ctr"/>
          <a:lstStyle/>
          <a:p>
            <a:pPr algn="ctr" indent="0" marL="0">
              <a:buNone/>
            </a:pPr>
            <a:r>
              <a:rPr lang="en-US" sz="1100" b="1" dirty="0">
                <a:solidFill>
                  <a:schemeClr val="tx2"/>
                </a:solidFill>
              </a:rPr>
              <a:t>Live agent cards</a:t>
            </a:r>
            <a:endParaRPr lang="en-US" sz="1100" dirty="0"/>
          </a:p>
        </p:txBody>
      </p:sp>
      <p:sp>
        <p:nvSpPr>
          <p:cNvPr id="8" name="Feature chip 2"/>
          <p:cNvSpPr/>
          <p:nvPr/>
        </p:nvSpPr>
        <p:spPr>
          <a:xfrm>
            <a:off x="2176272" y="4160520"/>
            <a:ext cx="1627632" cy="329184"/>
          </a:xfrm>
          <a:prstGeom prst="roundRect">
            <a:avLst>
              <a:gd name="adj" fmla="val 27778"/>
            </a:avLst>
          </a:prstGeom>
          <a:solidFill>
            <a:schemeClr val="bg1"/>
          </a:solidFill>
          <a:ln w="9525">
            <a:solidFill>
              <a:schemeClr val="accent1"/>
            </a:solidFill>
            <a:prstDash val="solid"/>
          </a:ln>
        </p:spPr>
      </p:sp>
      <p:sp>
        <p:nvSpPr>
          <p:cNvPr id="9" name="Feature chip 2 text"/>
          <p:cNvSpPr txBox="1"/>
          <p:nvPr/>
        </p:nvSpPr>
        <p:spPr>
          <a:xfrm>
            <a:off x="2176272" y="4160520"/>
            <a:ext cx="1627632" cy="329184"/>
          </a:xfrm>
          <a:prstGeom prst="rect">
            <a:avLst/>
          </a:prstGeom>
          <a:noFill/>
          <a:ln/>
        </p:spPr>
        <p:txBody>
          <a:bodyPr wrap="square" lIns="0" tIns="0" rIns="0" bIns="0" rtlCol="0" anchor="ctr"/>
          <a:lstStyle/>
          <a:p>
            <a:pPr algn="ctr" indent="0" marL="0">
              <a:buNone/>
            </a:pPr>
            <a:r>
              <a:rPr lang="en-US" sz="1100" b="1" dirty="0">
                <a:solidFill>
                  <a:schemeClr val="tx2"/>
                </a:solidFill>
              </a:rPr>
              <a:t>History and downloads</a:t>
            </a:r>
            <a:endParaRPr lang="en-US" sz="1100" dirty="0"/>
          </a:p>
        </p:txBody>
      </p:sp>
      <p:sp>
        <p:nvSpPr>
          <p:cNvPr id="10" name="Feature chip 3"/>
          <p:cNvSpPr/>
          <p:nvPr/>
        </p:nvSpPr>
        <p:spPr>
          <a:xfrm>
            <a:off x="3895344" y="4160520"/>
            <a:ext cx="1627632" cy="329184"/>
          </a:xfrm>
          <a:prstGeom prst="roundRect">
            <a:avLst>
              <a:gd name="adj" fmla="val 27778"/>
            </a:avLst>
          </a:prstGeom>
          <a:solidFill>
            <a:schemeClr val="bg1"/>
          </a:solidFill>
          <a:ln w="9525">
            <a:solidFill>
              <a:schemeClr val="accent1"/>
            </a:solidFill>
            <a:prstDash val="solid"/>
          </a:ln>
        </p:spPr>
      </p:sp>
      <p:sp>
        <p:nvSpPr>
          <p:cNvPr id="11" name="Feature chip 3 text"/>
          <p:cNvSpPr txBox="1"/>
          <p:nvPr/>
        </p:nvSpPr>
        <p:spPr>
          <a:xfrm>
            <a:off x="3895344" y="4160520"/>
            <a:ext cx="1627632" cy="329184"/>
          </a:xfrm>
          <a:prstGeom prst="rect">
            <a:avLst/>
          </a:prstGeom>
          <a:noFill/>
          <a:ln/>
        </p:spPr>
        <p:txBody>
          <a:bodyPr wrap="square" lIns="0" tIns="0" rIns="0" bIns="0" rtlCol="0" anchor="ctr"/>
          <a:lstStyle/>
          <a:p>
            <a:pPr algn="ctr" indent="0" marL="0">
              <a:buNone/>
            </a:pPr>
            <a:r>
              <a:rPr lang="en-US" sz="1100" b="1" dirty="0">
                <a:solidFill>
                  <a:schemeClr val="tx2"/>
                </a:solidFill>
              </a:rPr>
              <a:t>Light and dark themes</a:t>
            </a:r>
            <a:endParaRPr lang="en-US" sz="1100" dirty="0"/>
          </a:p>
        </p:txBody>
      </p:sp>
      <p:sp>
        <p:nvSpPr>
          <p:cNvPr id="12" name="Dashboard frame"/>
          <p:cNvSpPr/>
          <p:nvPr/>
        </p:nvSpPr>
        <p:spPr>
          <a:xfrm>
            <a:off x="5669280" y="1097280"/>
            <a:ext cx="3017520" cy="1499616"/>
          </a:xfrm>
          <a:prstGeom prst="roundRect">
            <a:avLst>
              <a:gd name="adj" fmla="val 7317"/>
            </a:avLst>
          </a:prstGeom>
          <a:solidFill>
            <a:schemeClr val="bg1"/>
          </a:solidFill>
          <a:ln w="12700">
            <a:solidFill>
              <a:schemeClr val="bg1"/>
            </a:solidFill>
            <a:prstDash val="solid"/>
          </a:ln>
          <a:effectLst>
            <a:outerShdw sx="100000" sy="100000" kx="0" ky="0" algn="bl" rotWithShape="0" blurRad="114300" dist="25400" dir="5400000">
              <a:srgbClr val="142238">
                <a:alpha val="13000"/>
              </a:srgbClr>
            </a:outerShdw>
          </a:effectLst>
        </p:spPr>
      </p:sp>
      <p:pic>
        <p:nvPicPr>
          <p:cNvPr id="13" name="Dashboard screenshot" descr="Dashboard with statistics and recent activity">    </p:cNvPr>
          <p:cNvPicPr>
            <a:picLocks noChangeAspect="1"/>
          </p:cNvPicPr>
          <p:nvPr/>
        </p:nvPicPr>
        <p:blipFill>
          <a:blip r:embed="rId2"/>
          <a:stretch>
            <a:fillRect/>
          </a:stretch>
        </p:blipFill>
        <p:spPr>
          <a:xfrm>
            <a:off x="5715000" y="1143000"/>
            <a:ext cx="2926080" cy="1408176"/>
          </a:xfrm>
          <a:prstGeom prst="rect">
            <a:avLst/>
          </a:prstGeom>
        </p:spPr>
      </p:pic>
      <p:sp>
        <p:nvSpPr>
          <p:cNvPr id="14" name="Dashboard caption"/>
          <p:cNvSpPr txBox="1"/>
          <p:nvPr/>
        </p:nvSpPr>
        <p:spPr>
          <a:xfrm>
            <a:off x="5669280" y="2633472"/>
            <a:ext cx="3017520" cy="256032"/>
          </a:xfrm>
          <a:prstGeom prst="rect">
            <a:avLst/>
          </a:prstGeom>
          <a:noFill/>
          <a:ln/>
        </p:spPr>
        <p:txBody>
          <a:bodyPr wrap="square" lIns="0" tIns="0" rIns="0" bIns="0" rtlCol="0" anchor="ctr"/>
          <a:lstStyle/>
          <a:p>
            <a:pPr indent="0" marL="0">
              <a:buNone/>
            </a:pPr>
            <a:r>
              <a:rPr lang="en-US" sz="1200" b="1" dirty="0">
                <a:solidFill>
                  <a:schemeClr val="tx2"/>
                </a:solidFill>
              </a:rPr>
              <a:t>Dashboard: statistics, recent runs, ATS trend</a:t>
            </a:r>
            <a:endParaRPr lang="en-US" sz="1200" dirty="0"/>
          </a:p>
        </p:txBody>
      </p:sp>
      <p:sp>
        <p:nvSpPr>
          <p:cNvPr id="15" name="ATS frame"/>
          <p:cNvSpPr/>
          <p:nvPr/>
        </p:nvSpPr>
        <p:spPr>
          <a:xfrm>
            <a:off x="5669280" y="2944368"/>
            <a:ext cx="3017520" cy="1444752"/>
          </a:xfrm>
          <a:prstGeom prst="roundRect">
            <a:avLst>
              <a:gd name="adj" fmla="val 7595"/>
            </a:avLst>
          </a:prstGeom>
          <a:solidFill>
            <a:schemeClr val="bg1"/>
          </a:solidFill>
          <a:ln w="12700">
            <a:solidFill>
              <a:schemeClr val="bg1"/>
            </a:solidFill>
            <a:prstDash val="solid"/>
          </a:ln>
          <a:effectLst>
            <a:outerShdw sx="100000" sy="100000" kx="0" ky="0" algn="bl" rotWithShape="0" blurRad="114300" dist="25400" dir="5400000">
              <a:srgbClr val="142238">
                <a:alpha val="13000"/>
              </a:srgbClr>
            </a:outerShdw>
          </a:effectLst>
        </p:spPr>
      </p:sp>
      <p:pic>
        <p:nvPicPr>
          <p:cNvPr id="16" name="ATS screenshot" descr="Resume ATS result with score gauge and breakdown">    </p:cNvPr>
          <p:cNvPicPr>
            <a:picLocks noChangeAspect="1"/>
          </p:cNvPicPr>
          <p:nvPr/>
        </p:nvPicPr>
        <p:blipFill>
          <a:blip r:embed="rId3"/>
          <a:stretch>
            <a:fillRect/>
          </a:stretch>
        </p:blipFill>
        <p:spPr>
          <a:xfrm>
            <a:off x="5715000" y="2990088"/>
            <a:ext cx="2926080" cy="1353312"/>
          </a:xfrm>
          <a:prstGeom prst="rect">
            <a:avLst/>
          </a:prstGeom>
        </p:spPr>
      </p:pic>
      <p:sp>
        <p:nvSpPr>
          <p:cNvPr id="17" name="ATS caption"/>
          <p:cNvSpPr txBox="1"/>
          <p:nvPr/>
        </p:nvSpPr>
        <p:spPr>
          <a:xfrm>
            <a:off x="5669280" y="4425696"/>
            <a:ext cx="3017520" cy="256032"/>
          </a:xfrm>
          <a:prstGeom prst="rect">
            <a:avLst/>
          </a:prstGeom>
          <a:noFill/>
          <a:ln/>
        </p:spPr>
        <p:txBody>
          <a:bodyPr wrap="square" lIns="0" tIns="0" rIns="0" bIns="0" rtlCol="0" anchor="ctr"/>
          <a:lstStyle/>
          <a:p>
            <a:pPr indent="0" marL="0">
              <a:buNone/>
            </a:pPr>
            <a:r>
              <a:rPr lang="en-US" sz="1200" b="1" dirty="0">
                <a:solidFill>
                  <a:schemeClr val="tx2"/>
                </a:solidFill>
              </a:rPr>
              <a:t>Resume ATS: score, breakdown, AI review</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rPr>
              <a:t>Results, Limitations and Future Scope</a:t>
            </a:r>
            <a:endParaRPr lang="en-US" sz="3000" dirty="0"/>
          </a:p>
        </p:txBody>
      </p:sp>
      <p:sp>
        <p:nvSpPr>
          <p:cNvPr id="3" name="Stat 1 card"/>
          <p:cNvSpPr/>
          <p:nvPr/>
        </p:nvSpPr>
        <p:spPr>
          <a:xfrm>
            <a:off x="457200" y="1097280"/>
            <a:ext cx="2651760" cy="1417320"/>
          </a:xfrm>
          <a:prstGeom prst="roundRect">
            <a:avLst>
              <a:gd name="adj" fmla="val 7742"/>
            </a:avLst>
          </a:prstGeom>
          <a:solidFill>
            <a:schemeClr val="bg1">
              <a:alpha val="10000"/>
            </a:schemeClr>
          </a:solidFill>
          <a:ln w="9525">
            <a:solidFill>
              <a:schemeClr val="bg1">
                <a:alpha val="30000"/>
              </a:schemeClr>
            </a:solidFill>
            <a:prstDash val="solid"/>
          </a:ln>
        </p:spPr>
      </p:sp>
      <p:sp>
        <p:nvSpPr>
          <p:cNvPr id="4" name="Stat 1 number"/>
          <p:cNvSpPr txBox="1"/>
          <p:nvPr/>
        </p:nvSpPr>
        <p:spPr>
          <a:xfrm>
            <a:off x="640080" y="1188720"/>
            <a:ext cx="2286000" cy="640080"/>
          </a:xfrm>
          <a:prstGeom prst="rect">
            <a:avLst/>
          </a:prstGeom>
          <a:noFill/>
          <a:ln/>
        </p:spPr>
        <p:txBody>
          <a:bodyPr wrap="square" lIns="0" tIns="0" rIns="0" bIns="0" rtlCol="0" anchor="ctr"/>
          <a:lstStyle/>
          <a:p>
            <a:pPr indent="0" marL="0">
              <a:buNone/>
            </a:pPr>
            <a:r>
              <a:rPr lang="en-US" sz="4000" b="1" dirty="0">
                <a:solidFill>
                  <a:schemeClr val="bg1"/>
                </a:solidFill>
                <a:latin typeface="Cambria" pitchFamily="34" charset="0"/>
                <a:ea typeface="Cambria" pitchFamily="34" charset="-122"/>
                <a:cs typeface="Cambria" pitchFamily="34" charset="-120"/>
              </a:rPr>
              <a:t>2m 14s</a:t>
            </a:r>
            <a:endParaRPr lang="en-US" sz="4000" dirty="0"/>
          </a:p>
        </p:txBody>
      </p:sp>
      <p:sp>
        <p:nvSpPr>
          <p:cNvPr id="5" name="Stat 1 label"/>
          <p:cNvSpPr txBox="1"/>
          <p:nvPr/>
        </p:nvSpPr>
        <p:spPr>
          <a:xfrm>
            <a:off x="640080" y="1847088"/>
            <a:ext cx="2286000" cy="594360"/>
          </a:xfrm>
          <a:prstGeom prst="rect">
            <a:avLst/>
          </a:prstGeom>
          <a:noFill/>
          <a:ln/>
        </p:spPr>
        <p:txBody>
          <a:bodyPr wrap="square" lIns="0" tIns="0" rIns="0" bIns="0" rtlCol="0" anchor="t"/>
          <a:lstStyle/>
          <a:p>
            <a:pPr indent="0" marL="0">
              <a:buNone/>
            </a:pPr>
            <a:r>
              <a:rPr lang="en-US" sz="1300" dirty="0">
                <a:solidFill>
                  <a:schemeClr val="bg2"/>
                </a:solidFill>
              </a:rPr>
              <a:t>four agents on Groq; about 6 min locally on a CPU</a:t>
            </a:r>
            <a:endParaRPr lang="en-US" sz="1300" dirty="0"/>
          </a:p>
        </p:txBody>
      </p:sp>
      <p:sp>
        <p:nvSpPr>
          <p:cNvPr id="6" name="Stat 2 card"/>
          <p:cNvSpPr/>
          <p:nvPr/>
        </p:nvSpPr>
        <p:spPr>
          <a:xfrm>
            <a:off x="3246120" y="1097280"/>
            <a:ext cx="2651760" cy="1417320"/>
          </a:xfrm>
          <a:prstGeom prst="roundRect">
            <a:avLst>
              <a:gd name="adj" fmla="val 7742"/>
            </a:avLst>
          </a:prstGeom>
          <a:solidFill>
            <a:schemeClr val="bg1">
              <a:alpha val="10000"/>
            </a:schemeClr>
          </a:solidFill>
          <a:ln w="9525">
            <a:solidFill>
              <a:schemeClr val="bg1">
                <a:alpha val="30000"/>
              </a:schemeClr>
            </a:solidFill>
            <a:prstDash val="solid"/>
          </a:ln>
        </p:spPr>
      </p:sp>
      <p:sp>
        <p:nvSpPr>
          <p:cNvPr id="7" name="Stat 2 number"/>
          <p:cNvSpPr txBox="1"/>
          <p:nvPr/>
        </p:nvSpPr>
        <p:spPr>
          <a:xfrm>
            <a:off x="3429000" y="1188720"/>
            <a:ext cx="2286000" cy="640080"/>
          </a:xfrm>
          <a:prstGeom prst="rect">
            <a:avLst/>
          </a:prstGeom>
          <a:noFill/>
          <a:ln/>
        </p:spPr>
        <p:txBody>
          <a:bodyPr wrap="square" lIns="0" tIns="0" rIns="0" bIns="0" rtlCol="0" anchor="ctr"/>
          <a:lstStyle/>
          <a:p>
            <a:pPr indent="0" marL="0">
              <a:buNone/>
            </a:pPr>
            <a:r>
              <a:rPr lang="en-US" sz="4000" b="1" dirty="0">
                <a:solidFill>
                  <a:schemeClr val="bg1"/>
                </a:solidFill>
                <a:latin typeface="Cambria" pitchFamily="34" charset="0"/>
                <a:ea typeface="Cambria" pitchFamily="34" charset="-122"/>
                <a:cs typeface="Cambria" pitchFamily="34" charset="-120"/>
              </a:rPr>
              <a:t>98 vs 4</a:t>
            </a:r>
            <a:endParaRPr lang="en-US" sz="4000" dirty="0"/>
          </a:p>
        </p:txBody>
      </p:sp>
      <p:sp>
        <p:nvSpPr>
          <p:cNvPr id="8" name="Stat 2 label"/>
          <p:cNvSpPr txBox="1"/>
          <p:nvPr/>
        </p:nvSpPr>
        <p:spPr>
          <a:xfrm>
            <a:off x="3429000" y="1847088"/>
            <a:ext cx="2286000" cy="594360"/>
          </a:xfrm>
          <a:prstGeom prst="rect">
            <a:avLst/>
          </a:prstGeom>
          <a:noFill/>
          <a:ln/>
        </p:spPr>
        <p:txBody>
          <a:bodyPr wrap="square" lIns="0" tIns="0" rIns="0" bIns="0" rtlCol="0" anchor="t"/>
          <a:lstStyle/>
          <a:p>
            <a:pPr indent="0" marL="0">
              <a:buNone/>
            </a:pPr>
            <a:r>
              <a:rPr lang="en-US" sz="1300" dirty="0">
                <a:solidFill>
                  <a:schemeClr val="bg2"/>
                </a:solidFill>
              </a:rPr>
              <a:t>ATS score of a strong versus a weak sample resume</a:t>
            </a:r>
            <a:endParaRPr lang="en-US" sz="1300" dirty="0"/>
          </a:p>
        </p:txBody>
      </p:sp>
      <p:sp>
        <p:nvSpPr>
          <p:cNvPr id="9" name="Stat 3 card"/>
          <p:cNvSpPr/>
          <p:nvPr/>
        </p:nvSpPr>
        <p:spPr>
          <a:xfrm>
            <a:off x="6035040" y="1097280"/>
            <a:ext cx="2651760" cy="1417320"/>
          </a:xfrm>
          <a:prstGeom prst="roundRect">
            <a:avLst>
              <a:gd name="adj" fmla="val 7742"/>
            </a:avLst>
          </a:prstGeom>
          <a:solidFill>
            <a:schemeClr val="bg1">
              <a:alpha val="10000"/>
            </a:schemeClr>
          </a:solidFill>
          <a:ln w="9525">
            <a:solidFill>
              <a:schemeClr val="bg1">
                <a:alpha val="30000"/>
              </a:schemeClr>
            </a:solidFill>
            <a:prstDash val="solid"/>
          </a:ln>
        </p:spPr>
      </p:sp>
      <p:sp>
        <p:nvSpPr>
          <p:cNvPr id="10" name="Stat 3 number"/>
          <p:cNvSpPr txBox="1"/>
          <p:nvPr/>
        </p:nvSpPr>
        <p:spPr>
          <a:xfrm>
            <a:off x="6217920" y="1188720"/>
            <a:ext cx="2286000" cy="640080"/>
          </a:xfrm>
          <a:prstGeom prst="rect">
            <a:avLst/>
          </a:prstGeom>
          <a:noFill/>
          <a:ln/>
        </p:spPr>
        <p:txBody>
          <a:bodyPr wrap="square" lIns="0" tIns="0" rIns="0" bIns="0" rtlCol="0" anchor="ctr"/>
          <a:lstStyle/>
          <a:p>
            <a:pPr indent="0" marL="0">
              <a:buNone/>
            </a:pPr>
            <a:r>
              <a:rPr lang="en-US" sz="4000" b="1" dirty="0">
                <a:solidFill>
                  <a:schemeClr val="bg1"/>
                </a:solidFill>
                <a:latin typeface="Cambria" pitchFamily="34" charset="0"/>
                <a:ea typeface="Cambria" pitchFamily="34" charset="-122"/>
                <a:cs typeface="Cambria" pitchFamily="34" charset="-120"/>
              </a:rPr>
              <a:t>155</a:t>
            </a:r>
            <a:endParaRPr lang="en-US" sz="4000" dirty="0"/>
          </a:p>
        </p:txBody>
      </p:sp>
      <p:sp>
        <p:nvSpPr>
          <p:cNvPr id="11" name="Stat 3 label"/>
          <p:cNvSpPr txBox="1"/>
          <p:nvPr/>
        </p:nvSpPr>
        <p:spPr>
          <a:xfrm>
            <a:off x="6217920" y="1847088"/>
            <a:ext cx="2286000" cy="594360"/>
          </a:xfrm>
          <a:prstGeom prst="rect">
            <a:avLst/>
          </a:prstGeom>
          <a:noFill/>
          <a:ln/>
        </p:spPr>
        <p:txBody>
          <a:bodyPr wrap="square" lIns="0" tIns="0" rIns="0" bIns="0" rtlCol="0" anchor="t"/>
          <a:lstStyle/>
          <a:p>
            <a:pPr indent="0" marL="0">
              <a:buNone/>
            </a:pPr>
            <a:r>
              <a:rPr lang="en-US" sz="1300" dirty="0">
                <a:solidFill>
                  <a:schemeClr val="bg2"/>
                </a:solidFill>
              </a:rPr>
              <a:t>automated tests pass, using a scripted model</a:t>
            </a:r>
            <a:endParaRPr lang="en-US" sz="1300" dirty="0"/>
          </a:p>
        </p:txBody>
      </p:sp>
      <p:sp>
        <p:nvSpPr>
          <p:cNvPr id="12" name="Limitations card"/>
          <p:cNvSpPr/>
          <p:nvPr/>
        </p:nvSpPr>
        <p:spPr>
          <a:xfrm>
            <a:off x="457200" y="2697480"/>
            <a:ext cx="4023360" cy="1508760"/>
          </a:xfrm>
          <a:prstGeom prst="roundRect">
            <a:avLst>
              <a:gd name="adj" fmla="val 7273"/>
            </a:avLst>
          </a:prstGeom>
          <a:solidFill>
            <a:schemeClr val="bg1">
              <a:alpha val="10000"/>
            </a:schemeClr>
          </a:solidFill>
          <a:ln w="9525">
            <a:solidFill>
              <a:schemeClr val="bg1">
                <a:alpha val="30000"/>
              </a:schemeClr>
            </a:solidFill>
            <a:prstDash val="solid"/>
          </a:ln>
        </p:spPr>
      </p:sp>
      <p:sp>
        <p:nvSpPr>
          <p:cNvPr id="13" name="Limitations heading"/>
          <p:cNvSpPr txBox="1"/>
          <p:nvPr/>
        </p:nvSpPr>
        <p:spPr>
          <a:xfrm>
            <a:off x="640080" y="2761488"/>
            <a:ext cx="3657600" cy="320040"/>
          </a:xfrm>
          <a:prstGeom prst="rect">
            <a:avLst/>
          </a:prstGeom>
          <a:noFill/>
          <a:ln/>
        </p:spPr>
        <p:txBody>
          <a:bodyPr wrap="square" lIns="0" tIns="0" rIns="0" bIns="0" rtlCol="0" anchor="ctr"/>
          <a:lstStyle/>
          <a:p>
            <a:pPr indent="0" marL="0">
              <a:buNone/>
            </a:pPr>
            <a:r>
              <a:rPr lang="en-US" sz="1600" b="1" dirty="0">
                <a:solidFill>
                  <a:schemeClr val="bg1"/>
                </a:solidFill>
              </a:rPr>
              <a:t>Limitations</a:t>
            </a:r>
            <a:endParaRPr lang="en-US" sz="1600" dirty="0"/>
          </a:p>
        </p:txBody>
      </p:sp>
      <p:sp>
        <p:nvSpPr>
          <p:cNvPr id="14" name="Limitations list"/>
          <p:cNvSpPr txBox="1"/>
          <p:nvPr/>
        </p:nvSpPr>
        <p:spPr>
          <a:xfrm>
            <a:off x="640080" y="3108960"/>
            <a:ext cx="3657600" cy="105156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bg2"/>
                </a:solidFill>
              </a:rPr>
              <a:t>ATS rules are a heuristic, not checked against real ATS software</a:t>
            </a:r>
            <a:endParaRPr lang="en-US" sz="1300" dirty="0"/>
          </a:p>
          <a:p>
            <a:pPr marL="342900" indent="-342900">
              <a:spcAft>
                <a:spcPts val="400"/>
              </a:spcAft>
              <a:buSzPct val="100000"/>
              <a:buChar char="•"/>
            </a:pPr>
            <a:r>
              <a:rPr lang="en-US" sz="1300" dirty="0">
                <a:solidFill>
                  <a:schemeClr val="bg2"/>
                </a:solidFill>
              </a:rPr>
              <a:t>Results depend on web search and model quality</a:t>
            </a:r>
            <a:endParaRPr lang="en-US" sz="1300" dirty="0"/>
          </a:p>
          <a:p>
            <a:pPr marL="342900" indent="-342900">
              <a:spcAft>
                <a:spcPts val="400"/>
              </a:spcAft>
              <a:buSzPct val="100000"/>
              <a:buChar char="•"/>
            </a:pPr>
            <a:r>
              <a:rPr lang="en-US" sz="1300" dirty="0">
                <a:solidFill>
                  <a:schemeClr val="bg2"/>
                </a:solidFill>
              </a:rPr>
              <a:t>Not yet tried by real candidates</a:t>
            </a:r>
            <a:endParaRPr lang="en-US" sz="1300" dirty="0"/>
          </a:p>
        </p:txBody>
      </p:sp>
      <p:sp>
        <p:nvSpPr>
          <p:cNvPr id="15" name="Future scope card"/>
          <p:cNvSpPr/>
          <p:nvPr/>
        </p:nvSpPr>
        <p:spPr>
          <a:xfrm>
            <a:off x="4663440" y="2697480"/>
            <a:ext cx="4023360" cy="1508760"/>
          </a:xfrm>
          <a:prstGeom prst="roundRect">
            <a:avLst>
              <a:gd name="adj" fmla="val 7273"/>
            </a:avLst>
          </a:prstGeom>
          <a:solidFill>
            <a:schemeClr val="bg1">
              <a:alpha val="10000"/>
            </a:schemeClr>
          </a:solidFill>
          <a:ln w="9525">
            <a:solidFill>
              <a:schemeClr val="bg1">
                <a:alpha val="30000"/>
              </a:schemeClr>
            </a:solidFill>
            <a:prstDash val="solid"/>
          </a:ln>
        </p:spPr>
      </p:sp>
      <p:sp>
        <p:nvSpPr>
          <p:cNvPr id="16" name="Future scope heading"/>
          <p:cNvSpPr txBox="1"/>
          <p:nvPr/>
        </p:nvSpPr>
        <p:spPr>
          <a:xfrm>
            <a:off x="4846320" y="2761488"/>
            <a:ext cx="3657600" cy="320040"/>
          </a:xfrm>
          <a:prstGeom prst="rect">
            <a:avLst/>
          </a:prstGeom>
          <a:noFill/>
          <a:ln/>
        </p:spPr>
        <p:txBody>
          <a:bodyPr wrap="square" lIns="0" tIns="0" rIns="0" bIns="0" rtlCol="0" anchor="ctr"/>
          <a:lstStyle/>
          <a:p>
            <a:pPr indent="0" marL="0">
              <a:buNone/>
            </a:pPr>
            <a:r>
              <a:rPr lang="en-US" sz="1600" b="1" dirty="0">
                <a:solidFill>
                  <a:schemeClr val="bg1"/>
                </a:solidFill>
              </a:rPr>
              <a:t>Future scope</a:t>
            </a:r>
            <a:endParaRPr lang="en-US" sz="1600" dirty="0"/>
          </a:p>
        </p:txBody>
      </p:sp>
      <p:sp>
        <p:nvSpPr>
          <p:cNvPr id="17" name="Future scope list"/>
          <p:cNvSpPr txBox="1"/>
          <p:nvPr/>
        </p:nvSpPr>
        <p:spPr>
          <a:xfrm>
            <a:off x="4846320" y="3108960"/>
            <a:ext cx="3657600" cy="105156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bg2"/>
                </a:solidFill>
              </a:rPr>
              <a:t>Mock interview that scores your spoken or typed answers</a:t>
            </a:r>
            <a:endParaRPr lang="en-US" sz="1300" dirty="0"/>
          </a:p>
          <a:p>
            <a:pPr marL="342900" indent="-342900">
              <a:spcAft>
                <a:spcPts val="400"/>
              </a:spcAft>
              <a:buSzPct val="100000"/>
              <a:buChar char="•"/>
            </a:pPr>
            <a:r>
              <a:rPr lang="en-US" sz="1300" dirty="0">
                <a:solidFill>
                  <a:schemeClr val="bg2"/>
                </a:solidFill>
              </a:rPr>
              <a:t>Model comparison and a user study</a:t>
            </a:r>
            <a:endParaRPr lang="en-US" sz="1300" dirty="0"/>
          </a:p>
          <a:p>
            <a:pPr marL="342900" indent="-342900">
              <a:spcAft>
                <a:spcPts val="400"/>
              </a:spcAft>
              <a:buSzPct val="100000"/>
              <a:buChar char="•"/>
            </a:pPr>
            <a:r>
              <a:rPr lang="en-US" sz="1300" dirty="0">
                <a:solidFill>
                  <a:schemeClr val="bg2"/>
                </a:solidFill>
              </a:rPr>
              <a:t>Fact-checker agent and Docker deployment</a:t>
            </a:r>
            <a:endParaRPr lang="en-US" sz="1300" dirty="0"/>
          </a:p>
        </p:txBody>
      </p:sp>
      <p:sp>
        <p:nvSpPr>
          <p:cNvPr id="18" name="Closing line"/>
          <p:cNvSpPr txBox="1"/>
          <p:nvPr/>
        </p:nvSpPr>
        <p:spPr>
          <a:xfrm>
            <a:off x="457200" y="4315968"/>
            <a:ext cx="8229600" cy="45720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Thank you. Questions?</a:t>
            </a:r>
            <a:endParaRPr lang="en-US" sz="2200" dirty="0"/>
          </a:p>
        </p:txBody>
      </p:sp>
    </p:spTree>
  </p:cSld>
  <p:clrMapOvr>
    <a:masterClrMapping/>
  </p:clrMapOvr>
</p:sld>
</file>

<file path=ppt/theme/theme1.xml><?xml version="1.0" encoding="utf-8"?>
<a:theme xmlns:a="http://schemas.openxmlformats.org/drawingml/2006/main" name="Interview Prep Crew">
  <a:themeElements>
    <a:clrScheme name="Interview Prep Crew">
      <a:dk1>
        <a:srgbClr val="142238"/>
      </a:dk1>
      <a:lt1>
        <a:srgbClr val="FFFFFF"/>
      </a:lt1>
      <a:dk2>
        <a:srgbClr val="1B3A5C"/>
      </a:dk2>
      <a:lt2>
        <a:srgbClr val="EEF3F9"/>
      </a:lt2>
      <a:accent1>
        <a:srgbClr val="2E75B6"/>
      </a:accent1>
      <a:accent2>
        <a:srgbClr val="5B4CF0"/>
      </a:accent2>
      <a:accent3>
        <a:srgbClr val="1FA67A"/>
      </a:accent3>
      <a:accent4>
        <a:srgbClr val="E08A1E"/>
      </a:accent4>
      <a:accent5>
        <a:srgbClr val="D64545"/>
      </a:accent5>
      <a:accent6>
        <a:srgbClr val="5F6F85"/>
      </a:accent6>
      <a:hlink>
        <a:srgbClr val="2E75B6"/>
      </a:hlink>
      <a:folHlink>
        <a:srgbClr val="5F6F85"/>
      </a:folHlink>
    </a:clrScheme>
    <a:fontScheme name="Interview Prep Cr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Interview Prep Crew</dc:title>
  <dc:subject>Project presentation</dc:subject>
  <dc:creator>Tejas Shidam, Sandesh Phad</dc:creator>
  <cp:lastModifiedBy>Tejas Shidam, Sandesh Phad</cp:lastModifiedBy>
  <cp:revision>1</cp:revision>
  <dcterms:created xsi:type="dcterms:W3CDTF">2026-10-25T20:41:37Z</dcterms:created>
  <dcterms:modified xsi:type="dcterms:W3CDTF">2026-10-25T20:41:37Z</dcterms:modified>
</cp:coreProperties>
</file>